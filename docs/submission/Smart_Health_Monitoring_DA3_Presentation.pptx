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examiners. Today our team presents the AI-Powered Smart Health Monitoring System. Modern healthcare telemetry presents an architectural paradox: hospitals require bulletproof transactional consistency for patient records and emergency alerts, but simultaneously generate millions of high-frequency physiological data points that overwhelm traditional relational databases.</a:t>
            </a:r>
          </a:p>
          <a:p/>
          <a:p>
            <a:r>
              <a:t>To resolve this without sacrificing data integrity, our team engineered a hybrid polyglot architecture. Aryan led the backend gateway, dual-database design, and benchmarking; Aditya built the clinician workstation in React and TypeScript; and Harnoor developed the machine learning anomaly detection engine. Let us examine the clinical problem we set out to solve.</a:t>
            </a:r>
          </a:p>
          <a:p/>
          <a:p>
            <a:r>
              <a:t>--- EXAMINER Q&amp;A ---</a:t>
            </a:r>
          </a:p>
          <a:p>
            <a:r>
              <a:t>**Examiner:** *"Why didn't one student do the entire database while another did the backend?"*  </a:t>
            </a:r>
          </a:p>
          <a:p>
            <a:r>
              <a:t>**Technical Answer:** *"Our division of labor was vertical and architectural: Member 1 focused on the data storage foundation—relational normalization, procedural logic, NoSQL mirroring, and empirical query benchmarking. Member 2 integrated the presentation and clinician workflows over HTTP and WebSockets. Member 3 developed the mathematical feature extraction and unsupervised inference models. All three tiers integrate through strictly typed OpenAPI contracts."*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clinical environments, database failure is not an inconvenience—it is a patient safety hazard. If an operational database locks tables to execute an hourly cohort aggregation across a hospital's historical data, incoming emergency telemetry can time out.</a:t>
            </a:r>
          </a:p>
          <a:p/>
          <a:p>
            <a:r>
              <a:t>Furthermore, medical staff suffer from acute alarm fatigue when static thresholds repeatedly trigger false alerts for patients whose personal baselines naturally deviate from population averages.</a:t>
            </a:r>
          </a:p>
          <a:p/>
          <a:p>
            <a:r>
              <a:t>Our system directly resolves both challenges: polyglot storage separates transactional integrity from heavy analytics, while personalized machine learning supplements deterministic safety rules.</a:t>
            </a:r>
          </a:p>
          <a:p/>
          <a:p>
            <a:r>
              <a:t>--- EXAMINER Q&amp;A ---</a:t>
            </a:r>
          </a:p>
          <a:p>
            <a:r>
              <a:t>**Examiner:** *"Why not simply use MySQL read-replicas for analytics instead of introducing MongoDB?"*  </a:t>
            </a:r>
          </a:p>
          <a:p>
            <a:r>
              <a:t>**Technical Answer:** *"While MySQL read-replicas distribute read traffic, they enforce the exact same rigid relational schema and B-tree index maintenance overhead on replica write threads. High-frequency telemetry streams benefit from document-oriented storage with flexible nested payloads and native multi-stage aggregation operators ($bucket, $stdDevSamp) that allow horizontal cohort sharding without complex relational schema migrations."*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implementation directly tracks the three digital assignments. In DA1, we established a mathematically sound relational model in 3NF and BCNF with comprehensive domain constraints. In DA2, we implemented database-side procedural logic—stored procedures with named savepoint rollbacks, triggers, and functions—and ingested real Kaggle telemetry.</a:t>
            </a:r>
          </a:p>
          <a:p/>
          <a:p>
            <a:r>
              <a:t>In DA3, we bridged the relational engine to MongoDB Atlas using the Transactional Outbox pattern, authored seven complex aggregation pipelines, built an empirical benchmark engine, and created automated disaster recovery runbooks.</a:t>
            </a:r>
          </a:p>
          <a:p/>
          <a:p>
            <a:r>
              <a:t>--- EXAMINER Q&amp;A ---</a:t>
            </a:r>
          </a:p>
          <a:p>
            <a:r>
              <a:t>**Examiner:** *"Did you implement all database logic in Python ORM or natively inside MySQL?"*  </a:t>
            </a:r>
          </a:p>
          <a:p>
            <a:r>
              <a:t>**Technical Answer:** *"Both tiers are implemented. We defined SQLAlchemy declarative models for FastAPI ORM sessions, but authored native MySQL DDL in `schema.sql` implementing native stored procedures, triggers, stored functions, and views. Our test suite explicitly exercises the native database procedures directly via raw SQL execution."*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complete system topology. Notice the clear boundary between operational and analytical storage. When patient telemetry arrives via REST, FastAPI executes clinical threshold rules and writes the vital reading and an outbox event into MySQL within a single ACID transaction.</a:t>
            </a:r>
          </a:p>
          <a:p/>
          <a:p>
            <a:r>
              <a:t>An asynchronous background worker polls the outbox table and replicates documents to MongoDB Atlas using idempotent upserts. If MongoDB Atlas experiences a temporary network partition, our primary hospital operations and patient writes continue completely uninterrupted. Events simply buffer in MySQL and sync automatically upon recovery.</a:t>
            </a:r>
          </a:p>
          <a:p/>
          <a:p>
            <a:r>
              <a:t>--- EXAMINER Q&amp;A ---</a:t>
            </a:r>
          </a:p>
          <a:p>
            <a:r>
              <a:t>**Examiner:** *"Why didn't you use distributed two-phase commit (2PC / XA transactions) across MySQL and MongoDB?"*  </a:t>
            </a:r>
          </a:p>
          <a:p>
            <a:r>
              <a:t>**Technical Answer:** *"Distributed 2PC introduces a blocking coordinator problem. In a cloud topology where MongoDB Atlas is across a wide-area network, network latency or temporary partitions would hold table locks inside MySQL, starving incoming vital telemetry. By choosing the Transactional Outbox pattern, we achieve guaranteed Eventual Consistency with zero risk of transaction blocking on the primary relational store."*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details our relational schema. To prevent anomalies in clinical records, we strictly normalized our 17 tables to Third Normal Form and Boyce-Codd Normal Form.</a:t>
            </a:r>
          </a:p>
          <a:p/>
          <a:p>
            <a:r>
              <a:t>Notice how authentication credentials in `users` are completely decoupled from clinical profiles in `patient_profiles` and `doctor_profiles`. If a doctor changes their medical license number or clinic address, exactly one row in `doctor_profiles` is updated; authentication tokens and patient care histories remain untouched.</a:t>
            </a:r>
          </a:p>
          <a:p/>
          <a:p>
            <a:r>
              <a:t>Furthermore, domain CHECK constraints ensure that physiologically impossible telemetry—such as negative heart rates or SpO2 over 100%—are rejected immediately at the database engine boundary.</a:t>
            </a:r>
          </a:p>
          <a:p/>
          <a:p>
            <a:r>
              <a:t>--- EXAMINER Q&amp;A ---</a:t>
            </a:r>
          </a:p>
          <a:p>
            <a:r>
              <a:t>**Examiner:** *"Give an example of an update anomaly that would happen if your schema were only in 2NF."*  </a:t>
            </a:r>
          </a:p>
          <a:p>
            <a:r>
              <a:t>**Technical Answer:** *"If we stored doctor contact details or medical specialty directly inside the `patient_profiles` table alongside patient records, updating a doctor's office phone number would require updating hundreds of individual patient rows. If one row was missed, the database would hold contradictory contact details for the same doctor. Isolating `doctor_profiles` with a foreign key eliminates this transitive dependency and guarantees update anomaly freedom."*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6, we demonstrate our database-side procedural logic. Rather than relying solely on application-level code, we embed critical safety guarantees directly in the database.</a:t>
            </a:r>
          </a:p>
          <a:p/>
          <a:p>
            <a:r>
              <a:t>For example, `sp_safe_patient_discharge` demonstrates ACID transactions with named savepoints. If an attending physician attempts to discharge a patient who still has an active critical alert, the procedure rolls back to the savepoint and aborts the discharge with an explanatory error.</a:t>
            </a:r>
          </a:p>
          <a:p/>
          <a:p>
            <a:r>
              <a:t>Similarly, our AFTER UPDATE trigger on `alerts` automatically writes to `alert_status_history`, providing an immutable clinical audit trail that cannot be bypassed even if an administrator runs manual SQL updates.</a:t>
            </a:r>
          </a:p>
          <a:p/>
          <a:p>
            <a:r>
              <a:t>--- EXAMINER Q&amp;A ---</a:t>
            </a:r>
          </a:p>
          <a:p>
            <a:r>
              <a:t>**Examiner:** *"Why use a named SAVEPOINT instead of a standard ROLLBACK in `sp_safe_patient_discharge`?"*  </a:t>
            </a:r>
          </a:p>
          <a:p>
            <a:r>
              <a:t>**Technical Answer:** *"A standard ROLLBACK aborts the entire transaction, potentially discarding preceding audit log inserts or session state that need to be preserved. By using `SAVEPOINT before_discharge`, we selectively roll back the patient status update while still committing the error diagnostic message and audit event to the caller within a managed transactional boundary."*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MongoDB Atlas on Slide 7, we designed our document collections for analytical velocity. In `telemetry_readings`, blood pressure is modeled as an embedded subdocument `{systolic, diastolic}` because blood pressure values are always interpreted together.</a:t>
            </a:r>
          </a:p>
          <a:p/>
          <a:p>
            <a:r>
              <a:t>Crucially, we do not embed vital sign arrays inside patient documents, as that would eventually exceed MongoDB's 16MB document limit and trigger document re-allocation overhead.</a:t>
            </a:r>
          </a:p>
          <a:p/>
          <a:p>
            <a:r>
              <a:t>To power our dashboards, we authored seven production aggregation pipelines in `pipelines.py`. For example, Pipeline D aggregates time-series data into chronological hourly buckets, enabling clinicians to visualize diurnal trends without loading raw telemetry into application memory.</a:t>
            </a:r>
          </a:p>
          <a:p/>
          <a:p>
            <a:r>
              <a:t>--- EXAMINER Q&amp;A ---</a:t>
            </a:r>
          </a:p>
          <a:p>
            <a:r>
              <a:t>**Examiner:** *"Why did you choose to reference `patient_id` in `telemetry_readings` rather than embedding readings inside the patient document?"*  </a:t>
            </a:r>
          </a:p>
          <a:p>
            <a:r>
              <a:t>**Technical Answer:** *"Embedding an unbounded array of high-frequency sensor readings inside a single patient document is an anti-pattern in MongoDB. A monitored ICU patient generates thousands of readings per day. That document would quickly hit the 16MB BSON document limit, and continuously growing the document would cause expensive on-disk relocations and write locks. Modeling readings as individual documents referenced by `patient_id` ensures unbounded horizontal scalability."*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details our machine learning engine, developed by Harnoor. We chose the Isolation Forest algorithm because supervised learning requires massive, perfectly labeled datasets of medical crises—which rarely exist in practice.</a:t>
            </a:r>
          </a:p>
          <a:p/>
          <a:p>
            <a:r>
              <a:t>Isolation Forest isolates anomalous vitals by measuring how shallowly an observation is split in randomized decision trees.</a:t>
            </a:r>
          </a:p>
          <a:p/>
          <a:p>
            <a:r>
              <a:t>Rather than feeding raw numbers directly to the model, our pipeline generates 38 engineered features capturing rolling volatility, delta rates of change, and standardized z-scores.</a:t>
            </a:r>
          </a:p>
          <a:p/>
          <a:p>
            <a:r>
              <a:t>Crucially, our `BaselineManager` calibrates the model against each patient's individual history. This prevents the system from sounding alarms on a marathon runner whose resting heart rate is normally 48 bpm.</a:t>
            </a:r>
          </a:p>
          <a:p/>
          <a:p>
            <a:r>
              <a:t>--- EXAMINER Q&amp;A ---</a:t>
            </a:r>
          </a:p>
          <a:p>
            <a:r>
              <a:t>**Examiner:** *"How can you evaluate an unsupervised anomaly detection model if you don't have ground-truth labels?"*  </a:t>
            </a:r>
          </a:p>
          <a:p>
            <a:r>
              <a:t>**Technical Answer:** *"In unsupervised settings, evaluation relies on synthetic outlier injection benchmarks, stability across bootstrap iterations, and boundary verification against clinical physiological limits. In our test suite (`test_predictions.py`), we inject extreme synthetic tachycardia, hypoxia, and shock patterns to verify that the model reliably assigns them anomaly scores $&gt; 0.75$, while stable physiological data remains below the 0.50 threshold."*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healthcare, machine learning must never replace clinical safety nets. Slide 9 illustrates our defense-in-depth triage architecture.</a:t>
            </a:r>
          </a:p>
          <a:p/>
          <a:p>
            <a:r>
              <a:t>Tier 1 is our deterministic rule engine: if a patient's oxygen saturation drops below 90%, a CRITICAL alert is created instantaneously—no model latency or probabilistic uncertainty is involved.</a:t>
            </a:r>
          </a:p>
          <a:p/>
          <a:p>
            <a:r>
              <a:t>Tier 2 is our ML engine: it catches insidious multi-variate drift that individual thresholds miss—such as septic shock, where heart rate rises while blood pressure drops, even though both values remain technically within normal ranges.</a:t>
            </a:r>
          </a:p>
          <a:p/>
          <a:p>
            <a:r>
              <a:t>We also maintain strict regulatory transparency: the ML engine provides anomaly alerts for triage prioritization, not medical diagnoses.</a:t>
            </a:r>
          </a:p>
          <a:p/>
          <a:p>
            <a:r>
              <a:t>--- EXAMINER Q&amp;A ---</a:t>
            </a:r>
          </a:p>
          <a:p>
            <a:r>
              <a:t>**Examiner:** *"What prevents a machine learning false positive from overwhelming attending doctors?"*  </a:t>
            </a:r>
          </a:p>
          <a:p>
            <a:r>
              <a:t>**Technical Answer:** *"ML-generated warnings are categorized with `MEDIUM` severity and flagged as 'Statistical Anomaly,' distinct from 'Hard Threshold Critical' alerts. They appear in the triage queue with contributing feature explanations (e.g. 'elevated heart rate rolling volatility'), allowing clinicians to quickly verify context without triggering high-priority audible emergency alarms."*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10, we examine our central FastAPI application gateway. FastAPI was chosen for its native asynchronous execution, automatic OpenAPI contract generation, and high-speed Pydantic v2 data validation.</a:t>
            </a:r>
          </a:p>
          <a:p/>
          <a:p>
            <a:r>
              <a:t>We enforce strict four-tier Role-Based Access Control. For example, only doctors and administrators can discharge patients or trigger ML assessments, while nurses can record telemetry and acknowledge alerts.</a:t>
            </a:r>
          </a:p>
          <a:p/>
          <a:p>
            <a:r>
              <a:t>To prevent horizontal privilege escalation (IDOR), patient users can only view their own records; attempting to query another patient's ID results in an immediate 403 Forbidden.</a:t>
            </a:r>
          </a:p>
          <a:p/>
          <a:p>
            <a:r>
              <a:t>--- EXAMINER Q&amp;A ---</a:t>
            </a:r>
          </a:p>
          <a:p>
            <a:r>
              <a:t>**Examiner:** *"How exactly do you prevent a patient from tampering with another patient's ID in `/api/v1/patients/{id}`?"*  </a:t>
            </a:r>
          </a:p>
          <a:p>
            <a:r>
              <a:t>**Technical Answer:** *"In our authentication dependency (`get_current_user`), the token payload's `user_id` and `role` are extracted. If the caller has the `PATIENT` role, the router asserts that the path parameter `{id}` matches the caller's linked `patient_profile.id`. If they do not match, the dependency raises an `HTTPException(status_code=403, detail='Access forbidden to foreign patient record')` before any database query executes."*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showcases our clinician workstation, developed by Aditya. It is a React 19 Single Page Application designed for high-stress intensive care environments.</a:t>
            </a:r>
          </a:p>
          <a:p/>
          <a:p>
            <a:r>
              <a:t>Rather than polling REST APIs every few seconds, the dashboard establishes a persistent real-time WebSocket connection to receive instant alert notifications.</a:t>
            </a:r>
          </a:p>
          <a:p/>
          <a:p>
            <a:r>
              <a:t>Notice how we solved a critical security vulnerability: standard WebSockets do not support custom HTTP Authorization headers in browser JavaScript, tempting developers to put long-lived JWTs in query parameters where they leak into access logs.</a:t>
            </a:r>
          </a:p>
          <a:p/>
          <a:p>
            <a:r>
              <a:t>Instead, our frontend executes a ticket handshake: it requests an ephemeral, single-use ticket over HTTPS, and passes that 5-minute ticket to the WebSocket handshake. Once consumed, the ticket is discarded.</a:t>
            </a:r>
          </a:p>
          <a:p/>
          <a:p>
            <a:r>
              <a:t>--- EXAMINER Q&amp;A ---</a:t>
            </a:r>
          </a:p>
          <a:p>
            <a:r>
              <a:t>**Examiner:** *"What happens if the WebSocket connection drops due to a hospital Wi-Fi disconnect?"*  </a:t>
            </a:r>
          </a:p>
          <a:p>
            <a:r>
              <a:t>**Technical Answer:** *"Our React WebSocket client (`wsService.ts`) implements an exponential backoff reconnection algorithm. Upon disconnection, it waits 1 second, doubles the backoff up to a 30-second ceiling, automatically requests a fresh single-use ticket via HTTPS, and re-establishes the streaming session seamlessly without requiring the clinician to refresh the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12, we present our Streamlit analytics dashboard. While the React dashboard is optimized for immediate bedside care, hospital administrators and researchers require macro-level population insights.</a:t>
            </a:r>
          </a:p>
          <a:p/>
          <a:p>
            <a:r>
              <a:t>Our Streamlit app provides eight analytical modules powered directly by our MongoDB aggregation pipelines and relational database views.</a:t>
            </a:r>
          </a:p>
          <a:p/>
          <a:p>
            <a:r>
              <a:t>It includes an interactive Data Quality view that audits telemetry sensor dropouts, an Alert Analytics view tracking clinical resolution times, and an empirical Benchmark Explorer that visualizes our database latency measurements.</a:t>
            </a:r>
          </a:p>
          <a:p/>
          <a:p>
            <a:r>
              <a:t>--- EXAMINER Q&amp;A ---</a:t>
            </a:r>
          </a:p>
          <a:p>
            <a:r>
              <a:t>**Examiner:** *"Does Streamlit place extra query load on the primary transactional MySQL database?"*  </a:t>
            </a:r>
          </a:p>
          <a:p>
            <a:r>
              <a:t>**Technical Answer:** *"No. The heavy analytical queries in Streamlit—such as hourly cohort bucketing and data quality audits—are routed directly to MongoDB Atlas or executed against pre-aggregated relational views. The primary transactional tables in MySQL remain completely unencumbered by administrative dashboard queries."*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details our benchmarking methodology. In academic and industrial evaluations, performance numbers are completely invalid if the two databases are not calculating the exact same thing.</a:t>
            </a:r>
          </a:p>
          <a:p/>
          <a:p>
            <a:r>
              <a:t>We enforced a strict 'Correctness Before Speed' protocol. Before measuring a single microsecond, our harness compares the numerical outputs of MySQL and MongoDB across all seven workloads. If the outputs differ by more than 0.05, the benchmark aborts.</a:t>
            </a:r>
          </a:p>
          <a:p/>
          <a:p>
            <a:r>
              <a:t>Once equivalence is mathematically verified, the harness executes three warm-up iterations to eliminate cold-start cache anomalies, followed by twenty timed iterations using high-resolution monotonic timers.</a:t>
            </a:r>
          </a:p>
          <a:p/>
          <a:p>
            <a:r>
              <a:t>--- EXAMINER Q&amp;A ---</a:t>
            </a:r>
          </a:p>
          <a:p>
            <a:r>
              <a:t>**Examiner:** *"Why allow a tolerance of $\epsilon = 0.05$ instead of demanding exact floating-point equality?"*  </a:t>
            </a:r>
          </a:p>
          <a:p>
            <a:r>
              <a:t>**Technical Answer:** *"MySQL and MongoDB calculate sample standard deviation (`STDDEV_SAMP` vs `$stdDevSamp`) using slightly different IEEE-754 floating-point rounding accumulators. A 0.05 tolerance accounts for numerical variance in 64-bit floating-point aggregations across distinct engines without permitting actual clinical discrepancies."*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presents our actual empirical benchmark data from persistent run `bench_1791921481`. All seven workloads achieved 100% semantic equivalence.</a:t>
            </a:r>
          </a:p>
          <a:p/>
          <a:p>
            <a:r>
              <a:t>Notice the nuanced results: in Workloads A through F, MySQL demonstrated lower latencies because our composite B-tree covering indexes satisfied queries directly from memory pages without reading table row blocks.</a:t>
            </a:r>
          </a:p>
          <a:p/>
          <a:p>
            <a:r>
              <a:t>However, in Workload G—Clinical Alert Triage—MongoDB outperformed MySQL dramatically, executing in 0.06 milliseconds versus MySQL's 0.84 milliseconds—a 14.5x speedup. This proves the value of denormalized document modeling for real-time operational feeds.</a:t>
            </a:r>
          </a:p>
          <a:p/>
          <a:p>
            <a:r>
              <a:t>--- EXAMINER Q&amp;A ---</a:t>
            </a:r>
          </a:p>
          <a:p>
            <a:r>
              <a:t>**Examiner:** *"Why did MongoDB show higher latencies in Workloads A–F compared to MySQL?"*  </a:t>
            </a:r>
          </a:p>
          <a:p>
            <a:r>
              <a:t>**Technical Answer:** *"In Workloads A through F, MySQL operated on local in-memory B-tree indexes where the query optimizer utilized covering index scans. In contrast, the MongoDB aggregation pipeline executed multi-stage document transformations across our Atlas test harness. This demonstrates that for single-node indexed relational lookups, MySQL's mature C++ query execution engine is exceptionally fast, whereas MongoDB's strength shines in denormalized embedded aggregations (Workload G) and horizontal sharding."*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15, we dive beneath the surface using query execution plans. In MySQL, when a clinician pages through a patient's historical vitals, the query orders readings chronologically.</a:t>
            </a:r>
          </a:p>
          <a:p/>
          <a:p>
            <a:r>
              <a:t>Our `EXPLAIN` tree confirms that the engine uses our composite index `(patient_id, recorded_at DESC)` in reverse. Because the index is already sorted on disk, MySQL performs zero in-memory sorting—eliminating filesort completely.</a:t>
            </a:r>
          </a:p>
          <a:p/>
          <a:p>
            <a:r>
              <a:t>Similarly, MongoDB's `executionStats` show that our compound index `{"patient_id": 1, "recorded_at": -1}` enables an immediate IXSCAN stage where exactly 300 keys were examined to retrieve exactly 300 documents, confirming zero wasteful collection scans.</a:t>
            </a:r>
          </a:p>
          <a:p/>
          <a:p>
            <a:r>
              <a:t>--- EXAMINER Q&amp;A ---</a:t>
            </a:r>
          </a:p>
          <a:p>
            <a:r>
              <a:t>**Examiner:** *"What would happen to MySQL's query execution plan if the index was on `recorded_at` alone instead of `(patient_id, recorded_at)`?"*  </a:t>
            </a:r>
          </a:p>
          <a:p>
            <a:r>
              <a:t>**Technical Answer:** *"If the index were solely on `recorded_at`, the optimizer would face an index range scan across the entire hospital's recordings, followed by a filtering step for `patient_id = 1`, and would be forced to allocate a memory `filesort` buffer to order the matched rows. The composite index `(patient_id, recorded_at)` colocates the patient's readings in contiguous B-tree leaf pages, enabling an instantaneous clustered seek."*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addresses operational database reliability. A backup file that has never been restored is not a backup—it is merely a wish.</a:t>
            </a:r>
          </a:p>
          <a:p/>
          <a:p>
            <a:r>
              <a:t>We implemented a complete disaster recovery suite in `scripts/backup_and_recovery.py`.</a:t>
            </a:r>
          </a:p>
          <a:p/>
          <a:p>
            <a:r>
              <a:t>For MySQL, we take online, non-blocking snapshots using `mysqldump --single-transaction`, which leverages InnoDB's multi-version concurrency control so sensor writes never stall.</a:t>
            </a:r>
          </a:p>
          <a:p/>
          <a:p>
            <a:r>
              <a:t>To protect against accidental deletions, we maintain binary logs for point-in-time recovery.</a:t>
            </a:r>
          </a:p>
          <a:p/>
          <a:p>
            <a:r>
              <a:t>Most importantly, our automated test suite executes a non-destructive restore drill: it imports the backup into an isolated test database, audits row counts and stored procedures, and drops the test database cleanly.</a:t>
            </a:r>
          </a:p>
          <a:p/>
          <a:p>
            <a:r>
              <a:t>--- EXAMINER Q&amp;A ---</a:t>
            </a:r>
          </a:p>
          <a:p>
            <a:r>
              <a:t>**Examiner:** *"Why is `--single-transaction` essential when taking a MySQL backup in this system?"*  </a:t>
            </a:r>
          </a:p>
          <a:p>
            <a:r>
              <a:t>**Technical Answer:** *"Without `--single-transaction`, `mysqldump` locks tables using `LOCK TABLES`, which would block all incoming patient telemetry writes from ICU sensors, causing data loss and timeout cascades in the API gateway. `--single-transaction` creates a repeatable read snapshot at a specific transaction ID using InnoDB MVCC without acquiring a single table write lock."*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summarizes our automated testing and quality assurance regimen. We do not ask the panel to take our word for any feature; every component is backed by automated tests.</a:t>
            </a:r>
          </a:p>
          <a:p/>
          <a:p>
            <a:r>
              <a:t>Our backend pytest suite contains 280 tests that run in 73 seconds with a 100% pass rate.</a:t>
            </a:r>
          </a:p>
          <a:p/>
          <a:p>
            <a:r>
              <a:t>Aditya's frontend workstation contains 20 unit tests that execute in 365 milliseconds, and the TypeScript compiler reports zero errors.</a:t>
            </a:r>
          </a:p>
          <a:p/>
          <a:p>
            <a:r>
              <a:t>Furthermore, we wrote an end-to-end verification harness that tests 31 live integration checkpoints against a running server.</a:t>
            </a:r>
          </a:p>
          <a:p/>
          <a:p>
            <a:r>
              <a:t>During integration, we identified and fixed two functional bugs—a WebSocket ticket expiration bug and a frontend alert JSON unwrap defect—both verified with regression tests.</a:t>
            </a:r>
          </a:p>
          <a:p/>
          <a:p>
            <a:r>
              <a:t>--- EXAMINER Q&amp;A ---</a:t>
            </a:r>
          </a:p>
          <a:p>
            <a:r>
              <a:t>**Examiner:** *"How did you test MongoDB aggregations if a live Atlas cluster wasn't available during testing?"*  </a:t>
            </a:r>
          </a:p>
          <a:p>
            <a:r>
              <a:t>**Technical Answer:** *"We architected our tests to run against both environments. For CI/CD and offline testing, we use `mongomock` and an in-memory SQLite schema with SQLite-compatible procedural equivalents. For live testing, our client connects directly to MongoDB Atlas via `MONGODB_URI`. All 32 MongoDB analytics tests pass in both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18, we emphasize academic transparency. We make no unsupported claims.</a:t>
            </a:r>
          </a:p>
          <a:p/>
          <a:p>
            <a:r>
              <a:t>As documented in our audit reports, the Flutter mobile app is a planned external component not present in our repository. Patient data generation is instead fully verified via Kaggle telemetry ingestion and REST APIs.</a:t>
            </a:r>
          </a:p>
          <a:p/>
          <a:p>
            <a:r>
              <a:t>We also acknowledge three engineering limitations: stateless JWT tokens require an external Redis cache for instant revocation, our outbox poller is single-threaded, and the ML engine requires cohort fallbacks for cold-start patients.</a:t>
            </a:r>
          </a:p>
          <a:p/>
          <a:p>
            <a:r>
              <a:t>In future iterations, we plan to introduce Kafka event streaming, HL7/FHIR hospital EHR integration, and edge quantization.</a:t>
            </a:r>
          </a:p>
          <a:p/>
          <a:p>
            <a:r>
              <a:t>--- EXAMINER Q&amp;A ---</a:t>
            </a:r>
          </a:p>
          <a:p>
            <a:r>
              <a:t>**Examiner:** *"Why didn't you use Redis for the token blacklist right now?"*  </a:t>
            </a:r>
          </a:p>
          <a:p>
            <a:r>
              <a:t>**Technical Answer:** *"To keep our local deployment reproducible and minimize external dependencies for academic evaluation, we avoided introducing a third database container. We logged logouts to the `audit_logs` table and set access token expiration to 60 minutes. In an enterprise deployment, a Redis cluster with key-level TTLs is the industry standard for instant stateless token blacklisting."*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outlines our live demonstration sequence. We will walk through eight concrete steps: starting with service health probes, logging in with doctor credentials, loading patient telemetry, triggering a clinical alert, acknowledging it via our MySQL stored procedure, observing the trigger audit log, running ML anomaly scoring, showing outbox synchronization, and concluding with our empirical benchmark results in Streamlit.</a:t>
            </a:r>
          </a:p>
          <a:p/>
          <a:p>
            <a:r>
              <a:t>We also have pre-recorded terminal logs and disk artifacts ready should cloud network connectivity fluctuate.</a:t>
            </a:r>
          </a:p>
          <a:p/>
          <a:p>
            <a:r>
              <a:t>--- EXAMINER Q&amp;A ---</a:t>
            </a:r>
          </a:p>
          <a:p>
            <a:r>
              <a:t>**Examiner:** *"Can you show me the exact database row where the trigger recorded the alert acknowledgment?"*  </a:t>
            </a:r>
          </a:p>
          <a:p>
            <a:r>
              <a:t>**Technical Answer:** *"Yes. We can immediately execute `SELECT * FROM alert_status_history WHERE alert_id = 1;` in the MySQL terminal, which will show the exact timestamp, `old_status='ACTIVE'`, `new_status='ACKNOWLEDGED'`, and the executing user ID."*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Smart Health Monitoring System successfully demonstrates that healthcare platforms do not have to choose between transactional safety and analytical speed.</a:t>
            </a:r>
          </a:p>
          <a:p/>
          <a:p>
            <a:r>
              <a:t>By anchoring clinical records in a normalized MySQL relational core, replicating telemetry through the Transactional Outbox pattern into MongoDB Atlas, and augmenting monitoring with personalized machine learning, we have built a resilient, high-performance platform.</a:t>
            </a:r>
          </a:p>
          <a:p/>
          <a:p>
            <a:r>
              <a:t>We thank the examination panel for their time and now welcome your questions and invite you to our live demonstration.</a:t>
            </a:r>
          </a:p>
          <a:p/>
          <a:p>
            <a:r>
              <a:t>--- EXAMINER Q&amp;A ---</a:t>
            </a:r>
          </a:p>
          <a:p>
            <a:r>
              <a:t>**Examiner:** *"What was the single most valuable lesson your team learned while building this polyglot system?"*  </a:t>
            </a:r>
          </a:p>
          <a:p>
            <a:r>
              <a:t>**Technical Answer:** *"The most critical lesson was that distributed consistency requires architectural discipline rather than brute-force synchronization. Attempting distributed transactions across cloud boundaries creates brittle failure modes; using the Transactional Outbox pattern with idempotent upserts provided rock-solid fault tolerance, guaranteed eventual consistency, and complete independence between our operational and analytical database tiers."*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1</a:t>
            </a:r>
          </a:p>
          <a:p>
            <a:pPr>
              <a:spcAft>
                <a:spcPts val="400"/>
              </a:spcAft>
              <a:defRPr sz="2400" b="1">
                <a:solidFill>
                  <a:srgbClr val="0F4C81"/>
                </a:solidFill>
              </a:defRPr>
            </a:pPr>
            <a:r>
              <a:t>AI-Powered Smart Health Monitoring System</a:t>
            </a:r>
          </a:p>
          <a:p>
            <a:pPr>
              <a:defRPr sz="1300" i="1">
                <a:solidFill>
                  <a:srgbClr val="6C757D"/>
                </a:solidFill>
              </a:defRPr>
            </a:pPr>
            <a:r>
              <a:t>An enterprise-grade, distributed healthcare telemetry platform leveraging polyglot persistence (MySQL InnoDB + MongoDB Atlas), machine learning anomaly detection, and real-time clinician workstations.</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System Paradigm: Polyglot Persistence via Transactional Outbox Pattern</a:t>
            </a:r>
          </a:p>
          <a:p>
            <a:pPr>
              <a:spcAft>
                <a:spcPts val="1000"/>
              </a:spcAft>
              <a:defRPr sz="1500">
                <a:solidFill>
                  <a:srgbClr val="212529"/>
                </a:solidFill>
              </a:defRPr>
            </a:pPr>
            <a:r>
              <a:t>•  Relational Core: MySQL 8.0 InnoDB (Authoritative System of Record, ACID, 3NF/BCNF)</a:t>
            </a:r>
          </a:p>
          <a:p>
            <a:pPr>
              <a:spcAft>
                <a:spcPts val="1000"/>
              </a:spcAft>
              <a:defRPr sz="1500">
                <a:solidFill>
                  <a:srgbClr val="212529"/>
                </a:solidFill>
              </a:defRPr>
            </a:pPr>
            <a:r>
              <a:t>•  Analytical Mirror: MongoDB Atlas (Horizontal Document Store, 7 Aggregation Pipelines)</a:t>
            </a:r>
          </a:p>
          <a:p>
            <a:pPr>
              <a:spcAft>
                <a:spcPts val="1000"/>
              </a:spcAft>
              <a:defRPr sz="1500">
                <a:solidFill>
                  <a:srgbClr val="212529"/>
                </a:solidFill>
              </a:defRPr>
            </a:pPr>
            <a:r>
              <a:t>•  Machine Learning: Unsupervised Isolation Forest (38 Engineered Features, Personalized Baselines)</a:t>
            </a:r>
          </a:p>
          <a:p>
            <a:pPr>
              <a:spcAft>
                <a:spcPts val="1000"/>
              </a:spcAft>
              <a:defRPr sz="1500">
                <a:solidFill>
                  <a:srgbClr val="212529"/>
                </a:solidFill>
              </a:defRPr>
            </a:pPr>
            <a:r>
              <a:t>•  Clinician Workstation: React 19 + TypeScript (Vite 8.3, WebSocket Ticket Streaming)</a:t>
            </a:r>
          </a:p>
          <a:p>
            <a:pPr>
              <a:spcAft>
                <a:spcPts val="1000"/>
              </a:spcAft>
              <a:defRPr sz="1500">
                <a:solidFill>
                  <a:srgbClr val="212529"/>
                </a:solidFill>
              </a:defRPr>
            </a:pPr>
            <a:r>
              <a:t>•  Analytics Dashboard: Streamlit 1.40 (Cohort Distributions &amp; Benchmark Analytics)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2</a:t>
            </a:r>
          </a:p>
          <a:p>
            <a:pPr>
              <a:spcAft>
                <a:spcPts val="400"/>
              </a:spcAft>
              <a:defRPr sz="2400" b="1">
                <a:solidFill>
                  <a:srgbClr val="0F4C81"/>
                </a:solidFill>
              </a:defRPr>
            </a:pPr>
            <a:r>
              <a:t>The Clinical Telemetry Dilemma: Integrity vs. Velocity</a:t>
            </a:r>
          </a:p>
          <a:p>
            <a:pPr>
              <a:defRPr sz="1300" i="1">
                <a:solidFill>
                  <a:srgbClr val="6C757D"/>
                </a:solidFill>
              </a:defRPr>
            </a:pPr>
            <a:r>
              <a:t>Single-database architectures in healthcare fail because transactional operations and high-frequency time-series aggregations compete for the same storage engine locks.</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High-Velocity Ingestion: Intensive Care Unit (ICU) and wearable sensors produce continuous vital readings (Heart Rate, SpO2, Blood Pressure, Temperature).</a:t>
            </a:r>
          </a:p>
          <a:p>
            <a:pPr>
              <a:spcAft>
                <a:spcPts val="1000"/>
              </a:spcAft>
              <a:defRPr sz="1500">
                <a:solidFill>
                  <a:srgbClr val="212529"/>
                </a:solidFill>
              </a:defRPr>
            </a:pPr>
            <a:r>
              <a:t>•  Relational Bottlenecks: Index updates on massive relational tables cause write amplification and lock contention, threatening incoming telemetry.</a:t>
            </a:r>
          </a:p>
          <a:p>
            <a:pPr>
              <a:spcAft>
                <a:spcPts val="1000"/>
              </a:spcAft>
              <a:defRPr sz="1500">
                <a:solidFill>
                  <a:srgbClr val="212529"/>
                </a:solidFill>
              </a:defRPr>
            </a:pPr>
            <a:r>
              <a:t>•  Alarm Fatigue in Clinical Monitoring: Traditional static thresholds (e.g., HR &gt; 100) trigger frequent false alarms for patients with chronic atypical physiology (e.g. athletic bradycardia).</a:t>
            </a:r>
          </a:p>
          <a:p>
            <a:pPr>
              <a:spcAft>
                <a:spcPts val="1000"/>
              </a:spcAft>
              <a:defRPr sz="1500">
                <a:solidFill>
                  <a:srgbClr val="212529"/>
                </a:solidFill>
              </a:defRPr>
            </a:pPr>
            <a:r>
              <a:t>•  Regulatory &amp; Audit Demands: Clinical triage actions, patient discharges, and alert acknowledgments require non-repudiable audit trails and strict ACID transactions.</a:t>
            </a:r>
          </a:p>
          <a:p>
            <a:pPr>
              <a:spcAft>
                <a:spcPts val="1000"/>
              </a:spcAft>
              <a:defRPr sz="1500">
                <a:solidFill>
                  <a:srgbClr val="212529"/>
                </a:solidFill>
              </a:defRPr>
            </a:pPr>
            <a:r>
              <a:t>•  The Core Challenge: How can we ensure sub-second analytical queries across millions of readings without risking transactional deadlocks or losing a single vital sign?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3</a:t>
            </a:r>
          </a:p>
          <a:p>
            <a:pPr>
              <a:spcAft>
                <a:spcPts val="400"/>
              </a:spcAft>
              <a:defRPr sz="2400" b="1">
                <a:solidFill>
                  <a:srgbClr val="0F4C81"/>
                </a:solidFill>
              </a:defRPr>
            </a:pPr>
            <a:r>
              <a:t>Project Objectives &amp; Coursework Traceability</a:t>
            </a:r>
          </a:p>
          <a:p>
            <a:pPr>
              <a:defRPr sz="1300" i="1">
                <a:solidFill>
                  <a:srgbClr val="6C757D"/>
                </a:solidFill>
              </a:defRPr>
            </a:pPr>
            <a:r>
              <a:t>The project systematically fulfills every foundational, advanced relational, and NoSQL requirement across Digital Assignments DA1, DA2, and DA3.</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DA1 (Conceptual &amp; Logical Relational Modeling):</a:t>
            </a:r>
          </a:p>
          <a:p>
            <a:pPr>
              <a:spcAft>
                <a:spcPts val="1000"/>
              </a:spcAft>
              <a:defRPr sz="1500">
                <a:solidFill>
                  <a:srgbClr val="212529"/>
                </a:solidFill>
              </a:defRPr>
            </a:pPr>
            <a:r>
              <a:t>•  17 Normalized Relational Tables in Third Normal Form (3NF) and BCNF</a:t>
            </a:r>
          </a:p>
          <a:p>
            <a:pPr>
              <a:spcAft>
                <a:spcPts val="1000"/>
              </a:spcAft>
              <a:defRPr sz="1500">
                <a:solidFill>
                  <a:srgbClr val="212529"/>
                </a:solidFill>
              </a:defRPr>
            </a:pPr>
            <a:r>
              <a:t>•  Explicit Foreign Key Cascades (`CASCADE`, `RESTRICT`, `SET NULL`)</a:t>
            </a:r>
          </a:p>
          <a:p>
            <a:pPr>
              <a:spcAft>
                <a:spcPts val="1000"/>
              </a:spcAft>
              <a:defRPr sz="1500">
                <a:solidFill>
                  <a:srgbClr val="212529"/>
                </a:solidFill>
              </a:defRPr>
            </a:pPr>
            <a:r>
              <a:t>•  Domain `CHECK` constraints on vital boundaries (HR, SpO2, BP, Temp)</a:t>
            </a:r>
          </a:p>
          <a:p>
            <a:pPr>
              <a:spcAft>
                <a:spcPts val="1000"/>
              </a:spcAft>
              <a:defRPr sz="1500">
                <a:solidFill>
                  <a:srgbClr val="212529"/>
                </a:solidFill>
              </a:defRPr>
            </a:pPr>
            <a:r>
              <a:t>•  4-Tier Role-Based Access Control (`ADMIN`, `DOCTOR`, `NURSE`, `PATIENT`)</a:t>
            </a:r>
          </a:p>
          <a:p>
            <a:pPr>
              <a:spcAft>
                <a:spcPts val="1000"/>
              </a:spcAft>
              <a:defRPr sz="1500">
                <a:solidFill>
                  <a:srgbClr val="212529"/>
                </a:solidFill>
              </a:defRPr>
            </a:pPr>
            <a:r>
              <a:t>•  DA2 (Advanced Relational DDL, Ingestion &amp; Procedural SQL):</a:t>
            </a:r>
          </a:p>
          <a:p>
            <a:pPr>
              <a:spcAft>
                <a:spcPts val="1000"/>
              </a:spcAft>
              <a:defRPr sz="1500">
                <a:solidFill>
                  <a:srgbClr val="212529"/>
                </a:solidFill>
              </a:defRPr>
            </a:pPr>
            <a:r>
              <a:t>•  Production DDL (`schema.sql`) and versioned Alembic migrations</a:t>
            </a:r>
          </a:p>
          <a:p>
            <a:pPr>
              <a:spcAft>
                <a:spcPts val="1000"/>
              </a:spcAft>
              <a:defRPr sz="1500">
                <a:solidFill>
                  <a:srgbClr val="212529"/>
                </a:solidFill>
              </a:defRPr>
            </a:pPr>
            <a:r>
              <a:t>•  Real Kaggle Healthcare dataset ingestion (1,500 records across 5 cohorts)</a:t>
            </a:r>
          </a:p>
          <a:p>
            <a:pPr>
              <a:spcAft>
                <a:spcPts val="1000"/>
              </a:spcAft>
              <a:defRPr sz="1500">
                <a:solidFill>
                  <a:srgbClr val="212529"/>
                </a:solidFill>
              </a:defRPr>
            </a:pPr>
            <a:r>
              <a:t>•  Database Views, Stored Functions (`fn_calculate_bmi`, `fn_calculate_fever_category`)</a:t>
            </a:r>
          </a:p>
          <a:p>
            <a:pPr>
              <a:spcAft>
                <a:spcPts val="1000"/>
              </a:spcAft>
              <a:defRPr sz="1500">
                <a:solidFill>
                  <a:srgbClr val="212529"/>
                </a:solidFill>
              </a:defRPr>
            </a:pPr>
            <a:r>
              <a:t>•  Stored Procedures (`sp_safe_patient_discharge` with ACID savepoints) and Audit Triggers</a:t>
            </a:r>
          </a:p>
          <a:p>
            <a:pPr>
              <a:spcAft>
                <a:spcPts val="1000"/>
              </a:spcAft>
              <a:defRPr sz="1500">
                <a:solidFill>
                  <a:srgbClr val="212529"/>
                </a:solidFill>
              </a:defRPr>
            </a:pPr>
            <a:r>
              <a:t>•  DA3 (NoSQL Modeling, Mirroring, Benchmarks &amp; Operational Readiness):</a:t>
            </a:r>
          </a:p>
          <a:p>
            <a:pPr>
              <a:spcAft>
                <a:spcPts val="1000"/>
              </a:spcAft>
              <a:defRPr sz="1500">
                <a:solidFill>
                  <a:srgbClr val="212529"/>
                </a:solidFill>
              </a:defRPr>
            </a:pPr>
            <a:r>
              <a:t>•  MongoDB Atlas document schemas with source correlation IDs</a:t>
            </a:r>
          </a:p>
          <a:p>
            <a:pPr>
              <a:spcAft>
                <a:spcPts val="1000"/>
              </a:spcAft>
              <a:defRPr sz="1500">
                <a:solidFill>
                  <a:srgbClr val="212529"/>
                </a:solidFill>
              </a:defRPr>
            </a:pPr>
            <a:r>
              <a:t>•  Transactional Outbox Pattern for guaranteed eventual consistency</a:t>
            </a:r>
          </a:p>
          <a:p>
            <a:pPr>
              <a:spcAft>
                <a:spcPts val="1000"/>
              </a:spcAft>
              <a:defRPr sz="1500">
                <a:solidFill>
                  <a:srgbClr val="212529"/>
                </a:solidFill>
              </a:defRPr>
            </a:pPr>
            <a:r>
              <a:t>•  7 Production Aggregation Pipelines ($facet, $group, $match, $bucket)</a:t>
            </a:r>
          </a:p>
          <a:p>
            <a:pPr>
              <a:spcAft>
                <a:spcPts val="1000"/>
              </a:spcAft>
              <a:defRPr sz="1500">
                <a:solidFill>
                  <a:srgbClr val="212529"/>
                </a:solidFill>
              </a:defRPr>
            </a:pPr>
            <a:r>
              <a:t>•  Empirical SQL vs. NoSQL benchmark harness with semantic equivalence ($\epsilon \le 0.05$)</a:t>
            </a:r>
          </a:p>
          <a:p>
            <a:pPr>
              <a:spcAft>
                <a:spcPts val="1000"/>
              </a:spcAft>
              <a:defRPr sz="1500">
                <a:solidFill>
                  <a:srgbClr val="212529"/>
                </a:solidFill>
              </a:defRPr>
            </a:pPr>
            <a:r>
              <a:t>•  Multi-page Streamlit analytics dashboard and automated disaster recovery runbooks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4</a:t>
            </a:r>
          </a:p>
          <a:p>
            <a:pPr>
              <a:spcAft>
                <a:spcPts val="400"/>
              </a:spcAft>
              <a:defRPr sz="2400" b="1">
                <a:solidFill>
                  <a:srgbClr val="0F4C81"/>
                </a:solidFill>
              </a:defRPr>
            </a:pPr>
            <a:r>
              <a:t>Polyglot Persistence Architecture &amp; Data Flow</a:t>
            </a:r>
          </a:p>
          <a:p>
            <a:pPr>
              <a:defRPr sz="1300" i="1">
                <a:solidFill>
                  <a:srgbClr val="6C757D"/>
                </a:solidFill>
              </a:defRPr>
            </a:pPr>
            <a:r>
              <a:t>MySQL InnoDB serves as the authoritative System of Record; MongoDB Atlas serves as the analytical System of Engagement; the Transactional Outbox Pattern bridges them asynchronously.</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Decoupled Architecture: Client applications never write directly to MongoDB; all clinical ingress passes through FastAPI into MySQL.</a:t>
            </a:r>
          </a:p>
          <a:p>
            <a:pPr>
              <a:spcAft>
                <a:spcPts val="1000"/>
              </a:spcAft>
              <a:defRPr sz="1500">
                <a:solidFill>
                  <a:srgbClr val="212529"/>
                </a:solidFill>
              </a:defRPr>
            </a:pPr>
            <a:r>
              <a:t>•  Authoritative Core: MySQL guarantees strict ACID transactions for demographics, user credentials, alerts, and audit logs.</a:t>
            </a:r>
          </a:p>
          <a:p>
            <a:pPr>
              <a:spcAft>
                <a:spcPts val="1000"/>
              </a:spcAft>
              <a:defRPr sz="1500">
                <a:solidFill>
                  <a:srgbClr val="212529"/>
                </a:solidFill>
              </a:defRPr>
            </a:pPr>
            <a:r>
              <a:t>•  Outbox Enqueue: Ingestion writes vital telemetry and an outbox event atomically in a single MySQL transaction.</a:t>
            </a:r>
          </a:p>
          <a:p>
            <a:pPr>
              <a:spcAft>
                <a:spcPts val="1000"/>
              </a:spcAft>
              <a:defRPr sz="1500">
                <a:solidFill>
                  <a:srgbClr val="212529"/>
                </a:solidFill>
              </a:defRPr>
            </a:pPr>
            <a:r>
              <a:t>•  Asynchronous Sync Worker: Background worker polls `analytics_outbox` and mirrors data to MongoDB Atlas using idempotent upserts.</a:t>
            </a:r>
          </a:p>
          <a:p>
            <a:pPr>
              <a:spcAft>
                <a:spcPts val="1000"/>
              </a:spcAft>
              <a:defRPr sz="1500">
                <a:solidFill>
                  <a:srgbClr val="212529"/>
                </a:solidFill>
              </a:defRPr>
            </a:pPr>
            <a:r>
              <a:t>•  Real-Time Clinician Feed: Ephemeral ticket-authenticated WebSockets push critical alerts and live vitals to the React frontend.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5</a:t>
            </a:r>
          </a:p>
          <a:p>
            <a:pPr>
              <a:spcAft>
                <a:spcPts val="400"/>
              </a:spcAft>
              <a:defRPr sz="2400" b="1">
                <a:solidFill>
                  <a:srgbClr val="0F4C81"/>
                </a:solidFill>
              </a:defRPr>
            </a:pPr>
            <a:r>
              <a:t>Relational Schema Design &amp; Normalization Proof</a:t>
            </a:r>
          </a:p>
          <a:p>
            <a:pPr>
              <a:defRPr sz="1300" i="1">
                <a:solidFill>
                  <a:srgbClr val="6C757D"/>
                </a:solidFill>
              </a:defRPr>
            </a:pPr>
            <a:r>
              <a:t>17 relational tables organized in strict 3NF and BCNF eliminate insertion, deletion, and update anomalies while enforcing clinical domain constraints.</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1NF Compliance: All attributes contain atomic values (e.g. vital signs are discrete floating-point columns, not JSON strings).</a:t>
            </a:r>
          </a:p>
          <a:p>
            <a:pPr>
              <a:spcAft>
                <a:spcPts val="1000"/>
              </a:spcAft>
              <a:defRPr sz="1500">
                <a:solidFill>
                  <a:srgbClr val="212529"/>
                </a:solidFill>
              </a:defRPr>
            </a:pPr>
            <a:r>
              <a:t>•  2NF Compliance: Zero partial functional dependencies on composite candidate keys (e.g. `doctor_patient_assignments` on `(doctor_id, patient_id)`).</a:t>
            </a:r>
          </a:p>
          <a:p>
            <a:pPr>
              <a:spcAft>
                <a:spcPts val="1000"/>
              </a:spcAft>
              <a:defRPr sz="1500">
                <a:solidFill>
                  <a:srgbClr val="212529"/>
                </a:solidFill>
              </a:defRPr>
            </a:pPr>
            <a:r>
              <a:t>•  3NF &amp; BCNF Compliance: Transitive dependencies eliminated. User authentication (`users`), clinical patient profiles (`patient_profiles`), doctor records (`doctor_profiles`), and device ingestion events (`ingestion_events`) are isolated in dedicated relations.</a:t>
            </a:r>
          </a:p>
          <a:p>
            <a:pPr>
              <a:spcAft>
                <a:spcPts val="1000"/>
              </a:spcAft>
              <a:defRPr sz="1500">
                <a:solidFill>
                  <a:srgbClr val="212529"/>
                </a:solidFill>
              </a:defRPr>
            </a:pPr>
            <a:r>
              <a:t>•  Functional Dependency Superkey Rule: For every non-trivial dependency $X \rightarrow Y$, $X$ is a superkey:</a:t>
            </a:r>
          </a:p>
          <a:p>
            <a:pPr>
              <a:spcAft>
                <a:spcPts val="1000"/>
              </a:spcAft>
              <a:defRPr sz="1500">
                <a:solidFill>
                  <a:srgbClr val="212529"/>
                </a:solidFill>
              </a:defRPr>
            </a:pPr>
            <a:r>
              <a:t>•  Declarative Domain Integrity:</a:t>
            </a:r>
          </a:p>
          <a:p>
            <a:pPr>
              <a:spcAft>
                <a:spcPts val="1000"/>
              </a:spcAft>
              <a:defRPr sz="1500">
                <a:solidFill>
                  <a:srgbClr val="212529"/>
                </a:solidFill>
              </a:defRPr>
            </a:pPr>
            <a:r>
              <a:t>•  `heart_rate &gt; 0 AND heart_rate &lt; 300`</a:t>
            </a:r>
          </a:p>
          <a:p>
            <a:pPr>
              <a:spcAft>
                <a:spcPts val="1000"/>
              </a:spcAft>
              <a:defRPr sz="1500">
                <a:solidFill>
                  <a:srgbClr val="212529"/>
                </a:solidFill>
              </a:defRPr>
            </a:pPr>
            <a:r>
              <a:t>•  `spo2 &gt;= 50 AND spo2 &lt;= 100`</a:t>
            </a:r>
          </a:p>
          <a:p>
            <a:pPr>
              <a:spcAft>
                <a:spcPts val="1000"/>
              </a:spcAft>
              <a:defRPr sz="1500">
                <a:solidFill>
                  <a:srgbClr val="212529"/>
                </a:solidFill>
              </a:defRPr>
            </a:pPr>
            <a:r>
              <a:t>•  `temperature &gt;= 30.0 AND temperature &lt;= 45.0`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6</a:t>
            </a:r>
          </a:p>
          <a:p>
            <a:pPr>
              <a:spcAft>
                <a:spcPts val="400"/>
              </a:spcAft>
              <a:defRPr sz="2400" b="1">
                <a:solidFill>
                  <a:srgbClr val="0F4C81"/>
                </a:solidFill>
              </a:defRPr>
            </a:pPr>
            <a:r>
              <a:t>Procedural SQL: Views, Functions, Procedures &amp; Triggers</a:t>
            </a:r>
          </a:p>
          <a:p>
            <a:pPr>
              <a:defRPr sz="1300" i="1">
                <a:solidFill>
                  <a:srgbClr val="6C757D"/>
                </a:solidFill>
              </a:defRPr>
            </a:pPr>
            <a:r>
              <a:t>Business logic governing patient safety, alert auditing, and clinical calculations is enforced directly inside the MySQL database engine.</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Relational Views:</a:t>
            </a:r>
          </a:p>
          <a:p>
            <a:pPr>
              <a:spcAft>
                <a:spcPts val="1000"/>
              </a:spcAft>
              <a:defRPr sz="1500">
                <a:solidFill>
                  <a:srgbClr val="212529"/>
                </a:solidFill>
              </a:defRPr>
            </a:pPr>
            <a:r>
              <a:t>•  `v_latest_patient_vitals`: Subquery-optimized view resolving the most recent vital sign reading per patient.</a:t>
            </a:r>
          </a:p>
          <a:p>
            <a:pPr>
              <a:spcAft>
                <a:spcPts val="1000"/>
              </a:spcAft>
              <a:defRPr sz="1500">
                <a:solidFill>
                  <a:srgbClr val="212529"/>
                </a:solidFill>
              </a:defRPr>
            </a:pPr>
            <a:r>
              <a:t>•  `v_patient_active_alerts`: Live clinical triage view joining active alerts with attending physician assignments.</a:t>
            </a:r>
          </a:p>
          <a:p>
            <a:pPr>
              <a:spcAft>
                <a:spcPts val="1000"/>
              </a:spcAft>
              <a:defRPr sz="1500">
                <a:solidFill>
                  <a:srgbClr val="212529"/>
                </a:solidFill>
              </a:defRPr>
            </a:pPr>
            <a:r>
              <a:t>•  Stored Functions:</a:t>
            </a:r>
          </a:p>
          <a:p>
            <a:pPr>
              <a:spcAft>
                <a:spcPts val="1000"/>
              </a:spcAft>
              <a:defRPr sz="1500">
                <a:solidFill>
                  <a:srgbClr val="212529"/>
                </a:solidFill>
              </a:defRPr>
            </a:pPr>
            <a:r>
              <a:t>•  `fn_calculate_bmi(weight_kg, height_cm)`: Calculates Body Mass Index with boundary validations.</a:t>
            </a:r>
          </a:p>
          <a:p>
            <a:pPr>
              <a:spcAft>
                <a:spcPts val="1000"/>
              </a:spcAft>
              <a:defRPr sz="1500">
                <a:solidFill>
                  <a:srgbClr val="212529"/>
                </a:solidFill>
              </a:defRPr>
            </a:pPr>
            <a:r>
              <a:t>•  `fn_calculate_fever_category(temp_celsius)`: Returns `NORMAL`, `LOW_GRADE_FEVER`, or `HIGH_FEVER`.</a:t>
            </a:r>
          </a:p>
          <a:p>
            <a:pPr>
              <a:spcAft>
                <a:spcPts val="1000"/>
              </a:spcAft>
              <a:defRPr sz="1500">
                <a:solidFill>
                  <a:srgbClr val="212529"/>
                </a:solidFill>
              </a:defRPr>
            </a:pPr>
            <a:r>
              <a:t>•  Stored Procedures:</a:t>
            </a:r>
          </a:p>
          <a:p>
            <a:pPr>
              <a:spcAft>
                <a:spcPts val="1000"/>
              </a:spcAft>
              <a:defRPr sz="1500">
                <a:solidFill>
                  <a:srgbClr val="212529"/>
                </a:solidFill>
              </a:defRPr>
            </a:pPr>
            <a:r>
              <a:t>•  `sp_acknowledge_alert`: Procedurally transitions alert state and logs timestamps.</a:t>
            </a:r>
          </a:p>
          <a:p>
            <a:pPr>
              <a:spcAft>
                <a:spcPts val="1000"/>
              </a:spcAft>
              <a:defRPr sz="1500">
                <a:solidFill>
                  <a:srgbClr val="212529"/>
                </a:solidFill>
              </a:defRPr>
            </a:pPr>
            <a:r>
              <a:t>•  `sp_evaluate_patient_alerts`: Uses a SQL Cursor to evaluate un-triaged vitals against active alert rules.</a:t>
            </a:r>
          </a:p>
          <a:p>
            <a:pPr>
              <a:spcAft>
                <a:spcPts val="1000"/>
              </a:spcAft>
              <a:defRPr sz="1500">
                <a:solidFill>
                  <a:srgbClr val="212529"/>
                </a:solidFill>
              </a:defRPr>
            </a:pPr>
            <a:r>
              <a:t>•  Transactional Safety with Savepoints:</a:t>
            </a:r>
          </a:p>
          <a:p>
            <a:pPr>
              <a:spcAft>
                <a:spcPts val="1000"/>
              </a:spcAft>
              <a:defRPr sz="1500">
                <a:solidFill>
                  <a:srgbClr val="212529"/>
                </a:solidFill>
              </a:defRPr>
            </a:pPr>
            <a:r>
              <a:t>•  `sp_safe_patient_discharge`: Enforces an atomic transaction with a named `SAVEPOINT`. Aborts and rolls back patient deactivation if active `HIGH` or `CRITICAL` alerts remain unresolved.</a:t>
            </a:r>
          </a:p>
          <a:p>
            <a:pPr>
              <a:spcAft>
                <a:spcPts val="1000"/>
              </a:spcAft>
              <a:defRPr sz="1500">
                <a:solidFill>
                  <a:srgbClr val="212529"/>
                </a:solidFill>
              </a:defRPr>
            </a:pPr>
            <a:r>
              <a:t>•  Database Trigger:</a:t>
            </a:r>
          </a:p>
          <a:p>
            <a:pPr>
              <a:spcAft>
                <a:spcPts val="1000"/>
              </a:spcAft>
              <a:defRPr sz="1500">
                <a:solidFill>
                  <a:srgbClr val="212529"/>
                </a:solidFill>
              </a:defRPr>
            </a:pPr>
            <a:r>
              <a:t>•  `trg_alert_status_history_after_update`: Automatically captures alert status changes and inserts an immutable audit log into `alert_status_history`.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7</a:t>
            </a:r>
          </a:p>
          <a:p>
            <a:pPr>
              <a:spcAft>
                <a:spcPts val="400"/>
              </a:spcAft>
              <a:defRPr sz="2400" b="1">
                <a:solidFill>
                  <a:srgbClr val="0F4C81"/>
                </a:solidFill>
              </a:defRPr>
            </a:pPr>
            <a:r>
              <a:t>Document Modeling &amp; 7 Production Aggregation Pipelines</a:t>
            </a:r>
          </a:p>
          <a:p>
            <a:pPr>
              <a:defRPr sz="1300" i="1">
                <a:solidFill>
                  <a:srgbClr val="6C757D"/>
                </a:solidFill>
              </a:defRPr>
            </a:pPr>
            <a:r>
              <a:t>MongoDB Atlas stores denormalized telemetry and alerts, powered by 7 multi-stage aggregation pipelines for high-speed clinical analytics.</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Collection Schemas:</a:t>
            </a:r>
          </a:p>
          <a:p>
            <a:pPr>
              <a:spcAft>
                <a:spcPts val="1000"/>
              </a:spcAft>
              <a:defRPr sz="1500">
                <a:solidFill>
                  <a:srgbClr val="212529"/>
                </a:solidFill>
              </a:defRPr>
            </a:pPr>
            <a:r>
              <a:t>•  `telemetry_readings`: High-throughput time-series with embedded vital measurements (`heart_rate`, `spo2`, nested `blood_pressure` subdocument).</a:t>
            </a:r>
          </a:p>
          <a:p>
            <a:pPr>
              <a:spcAft>
                <a:spcPts val="1000"/>
              </a:spcAft>
              <a:defRPr sz="1500">
                <a:solidFill>
                  <a:srgbClr val="212529"/>
                </a:solidFill>
              </a:defRPr>
            </a:pPr>
            <a:r>
              <a:t>•  `clinical_alerts`: Denormalized alerts with embedded patient demographic metadata for instant triage rendering.</a:t>
            </a:r>
          </a:p>
          <a:p>
            <a:pPr>
              <a:spcAft>
                <a:spcPts val="1000"/>
              </a:spcAft>
              <a:defRPr sz="1500">
                <a:solidFill>
                  <a:srgbClr val="212529"/>
                </a:solidFill>
              </a:defRPr>
            </a:pPr>
            <a:r>
              <a:t>•  Source Correlation &amp; Idempotency: Every document carries a `source_event_id` indexed with a unique sparse index.</a:t>
            </a:r>
          </a:p>
          <a:p>
            <a:pPr>
              <a:spcAft>
                <a:spcPts val="1000"/>
              </a:spcAft>
              <a:defRPr sz="1500">
                <a:solidFill>
                  <a:srgbClr val="212529"/>
                </a:solidFill>
              </a:defRPr>
            </a:pPr>
            <a:r>
              <a:t>•  The 7 Aggregation Pipelines (`pipelines.py`):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8</a:t>
            </a:r>
          </a:p>
          <a:p>
            <a:pPr>
              <a:spcAft>
                <a:spcPts val="400"/>
              </a:spcAft>
              <a:defRPr sz="2400" b="1">
                <a:solidFill>
                  <a:srgbClr val="0F4C81"/>
                </a:solidFill>
              </a:defRPr>
            </a:pPr>
            <a:r>
              <a:t>Unsupervised Physiological Anomaly Detection (Isolation Forest)</a:t>
            </a:r>
          </a:p>
          <a:p>
            <a:pPr>
              <a:defRPr sz="1300" i="1">
                <a:solidFill>
                  <a:srgbClr val="6C757D"/>
                </a:solidFill>
              </a:defRPr>
            </a:pPr>
            <a:r>
              <a:t>An unsupervised Isolation Forest algorithm transforms 38 engineered features into continuous anomaly scores, personalized by individual patient baselines.</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Algorithm: `sklearn.ensemble.IsolationForest` (100 estimators, 5% contamination, random seed 42).</a:t>
            </a:r>
          </a:p>
          <a:p>
            <a:pPr>
              <a:spcAft>
                <a:spcPts val="1000"/>
              </a:spcAft>
              <a:defRPr sz="1500">
                <a:solidFill>
                  <a:srgbClr val="212529"/>
                </a:solidFill>
              </a:defRPr>
            </a:pPr>
            <a:r>
              <a:t>•  Why Unsupervised? Clinical emergencies are rare and exhibit unpredictable multi-parameter patterns; labeled anomalous training datasets suffer from severe class imbalance.</a:t>
            </a:r>
          </a:p>
          <a:p>
            <a:pPr>
              <a:spcAft>
                <a:spcPts val="1000"/>
              </a:spcAft>
              <a:defRPr sz="1500">
                <a:solidFill>
                  <a:srgbClr val="212529"/>
                </a:solidFill>
              </a:defRPr>
            </a:pPr>
            <a:r>
              <a:t>•  Feature Engineering Pipeline (38 Features):</a:t>
            </a:r>
          </a:p>
          <a:p>
            <a:pPr>
              <a:spcAft>
                <a:spcPts val="1000"/>
              </a:spcAft>
              <a:defRPr sz="1500">
                <a:solidFill>
                  <a:srgbClr val="212529"/>
                </a:solidFill>
              </a:defRPr>
            </a:pPr>
            <a:r>
              <a:t>•  Instantaneous values (5 raw vitals)</a:t>
            </a:r>
          </a:p>
          <a:p>
            <a:pPr>
              <a:spcAft>
                <a:spcPts val="1000"/>
              </a:spcAft>
              <a:defRPr sz="1500">
                <a:solidFill>
                  <a:srgbClr val="212529"/>
                </a:solidFill>
              </a:defRPr>
            </a:pPr>
            <a:r>
              <a:t>•  Rolling statistical means ($\mu_5, \mu_{10}$) and standard deviations ($\sigma_5, \sigma_{10}$)</a:t>
            </a:r>
          </a:p>
          <a:p>
            <a:pPr>
              <a:spcAft>
                <a:spcPts val="1000"/>
              </a:spcAft>
              <a:defRPr sz="1500">
                <a:solidFill>
                  <a:srgbClr val="212529"/>
                </a:solidFill>
              </a:defRPr>
            </a:pPr>
            <a:r>
              <a:t>•  Peak-to-peak physiological ranges ($\max_{10} - \min_{10}$)</a:t>
            </a:r>
          </a:p>
          <a:p>
            <a:pPr>
              <a:spcAft>
                <a:spcPts val="1000"/>
              </a:spcAft>
              <a:defRPr sz="1500">
                <a:solidFill>
                  <a:srgbClr val="212529"/>
                </a:solidFill>
              </a:defRPr>
            </a:pPr>
            <a:r>
              <a:t>•  Temporal rates of change ($\Delta x_t = x_t - x_{t-1}$)</a:t>
            </a:r>
          </a:p>
          <a:p>
            <a:pPr>
              <a:spcAft>
                <a:spcPts val="1000"/>
              </a:spcAft>
              <a:defRPr sz="1500">
                <a:solidFill>
                  <a:srgbClr val="212529"/>
                </a:solidFill>
              </a:defRPr>
            </a:pPr>
            <a:r>
              <a:t>•  Dynamic patient z-score deviations ($Z_i = \frac{x_i - \mu_{\text{patient}}}{\sigma_{\text{patient}}}$)</a:t>
            </a:r>
          </a:p>
          <a:p>
            <a:pPr>
              <a:spcAft>
                <a:spcPts val="1000"/>
              </a:spcAft>
              <a:defRPr sz="1500">
                <a:solidFill>
                  <a:srgbClr val="212529"/>
                </a:solidFill>
              </a:defRPr>
            </a:pPr>
            <a:r>
              <a:t>•  The `BaselineManager`: Computes individual physiological baselines to eliminate alarm fatigue for patients with chronic atypical conditions (e.g. resting tachycardia).</a:t>
            </a:r>
          </a:p>
          <a:p>
            <a:pPr>
              <a:spcAft>
                <a:spcPts val="1000"/>
              </a:spcAft>
              <a:defRPr sz="1500">
                <a:solidFill>
                  <a:srgbClr val="212529"/>
                </a:solidFill>
              </a:defRPr>
            </a:pPr>
            <a:r>
              <a:t>•  Inference Contract: Returns `is_anomaly` (boolean), continuous `anomaly_score` [0.0, 1.0], and top contributing features.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9</a:t>
            </a:r>
          </a:p>
          <a:p>
            <a:pPr>
              <a:spcAft>
                <a:spcPts val="400"/>
              </a:spcAft>
              <a:defRPr sz="2400" b="1">
                <a:solidFill>
                  <a:srgbClr val="0F4C81"/>
                </a:solidFill>
              </a:defRPr>
            </a:pPr>
            <a:r>
              <a:t>Hybrid Safety Architecture: Deterministic Rules &amp; ML Synergy</a:t>
            </a:r>
          </a:p>
          <a:p>
            <a:pPr>
              <a:defRPr sz="1300" i="1">
                <a:solidFill>
                  <a:srgbClr val="6C757D"/>
                </a:solidFill>
              </a:defRPr>
            </a:pPr>
            <a:r>
              <a:t>The system combines deterministic rule-based thresholds with machine learning anomaly detection to guarantee immediate safety while enabling early warning.</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The Dual-Layer Architecture:</a:t>
            </a:r>
          </a:p>
          <a:p>
            <a:pPr>
              <a:spcAft>
                <a:spcPts val="1000"/>
              </a:spcAft>
              <a:defRPr sz="1500">
                <a:solidFill>
                  <a:srgbClr val="212529"/>
                </a:solidFill>
              </a:defRPr>
            </a:pPr>
            <a:r>
              <a:t>•  Tier 1 — Deterministic Rule Engine: Evaluates hard physiological boundaries (e.g., SpO2 &lt; 90%, HR &gt; 150 bpm). Zero false negatives on acute clinical emergencies. Immediately creates high-priority alerts and dispatches WebSocket notifications.</a:t>
            </a:r>
          </a:p>
          <a:p>
            <a:pPr>
              <a:spcAft>
                <a:spcPts val="1000"/>
              </a:spcAft>
              <a:defRPr sz="1500">
                <a:solidFill>
                  <a:srgbClr val="212529"/>
                </a:solidFill>
              </a:defRPr>
            </a:pPr>
            <a:r>
              <a:t>•  Tier 2 — Machine Learning Anomaly Engine: Evaluates multi-parameter correlations and longitudinal drift (e.g. heart rate steadily rising while diastolic blood pressure drifts downwards). Identifies pre-crisis instability before single-parameter thresholds breach.</a:t>
            </a:r>
          </a:p>
          <a:p>
            <a:pPr>
              <a:spcAft>
                <a:spcPts val="1000"/>
              </a:spcAft>
              <a:defRPr sz="1500">
                <a:solidFill>
                  <a:srgbClr val="212529"/>
                </a:solidFill>
              </a:defRPr>
            </a:pPr>
            <a:r>
              <a:t>•  Regulatory &amp; Medical Device Disclaimer:</a:t>
            </a:r>
          </a:p>
          <a:p>
            <a:pPr>
              <a:spcAft>
                <a:spcPts val="1000"/>
              </a:spcAft>
              <a:defRPr sz="1500">
                <a:solidFill>
                  <a:srgbClr val="212529"/>
                </a:solidFill>
              </a:defRPr>
            </a:pPr>
            <a:r>
              <a:t>•  The ML engine is an educational triage decision-support tool, NOT an FDA-cleared Software as a Medical Device (SaMD) diagnostic tool.</a:t>
            </a:r>
          </a:p>
          <a:p>
            <a:pPr>
              <a:spcAft>
                <a:spcPts val="1000"/>
              </a:spcAft>
              <a:defRPr sz="1500">
                <a:solidFill>
                  <a:srgbClr val="212529"/>
                </a:solidFill>
              </a:defRPr>
            </a:pPr>
            <a:r>
              <a:t>•  An anomaly score indicates statistical deviation from equilibrium, NOT a medical disease diagnosis.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10</a:t>
            </a:r>
          </a:p>
          <a:p>
            <a:pPr>
              <a:spcAft>
                <a:spcPts val="400"/>
              </a:spcAft>
              <a:defRPr sz="2400" b="1">
                <a:solidFill>
                  <a:srgbClr val="0F4C81"/>
                </a:solidFill>
              </a:defRPr>
            </a:pPr>
            <a:r>
              <a:t>FastAPI Core Gateway, Security &amp; RBAC Enforcement</a:t>
            </a:r>
          </a:p>
          <a:p>
            <a:pPr>
              <a:defRPr sz="1300" i="1">
                <a:solidFill>
                  <a:srgbClr val="6C757D"/>
                </a:solidFill>
              </a:defRPr>
            </a:pPr>
            <a:r>
              <a:t>A high-performance asynchronous REST gateway exposes 59 endpoints, enforcing OAuth2 JWT Bearer authentication and 4-tier Role-Based Access Control.</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Technology: FastAPI 0.115, Python 3.12, Pydantic v2, SQLAlchemy 2.0.</a:t>
            </a:r>
          </a:p>
          <a:p>
            <a:pPr>
              <a:spcAft>
                <a:spcPts val="1000"/>
              </a:spcAft>
              <a:defRPr sz="1500">
                <a:solidFill>
                  <a:srgbClr val="212529"/>
                </a:solidFill>
              </a:defRPr>
            </a:pPr>
            <a:r>
              <a:t>•  Routing Strategy: Dual-prefix mounting (`/api/v1/...` and root `/...`) for universal frontend compatibility.</a:t>
            </a:r>
          </a:p>
          <a:p>
            <a:pPr>
              <a:spcAft>
                <a:spcPts val="1000"/>
              </a:spcAft>
              <a:defRPr sz="1500">
                <a:solidFill>
                  <a:srgbClr val="212529"/>
                </a:solidFill>
              </a:defRPr>
            </a:pPr>
            <a:r>
              <a:t>•  Security &amp; Token Lifecycle:</a:t>
            </a:r>
          </a:p>
          <a:p>
            <a:pPr>
              <a:spcAft>
                <a:spcPts val="1000"/>
              </a:spcAft>
              <a:defRPr sz="1500">
                <a:solidFill>
                  <a:srgbClr val="212529"/>
                </a:solidFill>
              </a:defRPr>
            </a:pPr>
            <a:r>
              <a:t>•  OAuth2 Password Bearer flow issuing HMAC-SHA256 signed JWTs.</a:t>
            </a:r>
          </a:p>
          <a:p>
            <a:pPr>
              <a:spcAft>
                <a:spcPts val="1000"/>
              </a:spcAft>
              <a:defRPr sz="1500">
                <a:solidFill>
                  <a:srgbClr val="212529"/>
                </a:solidFill>
              </a:defRPr>
            </a:pPr>
            <a:r>
              <a:t>•  Short-lived access tokens with automatic refresh handling.</a:t>
            </a:r>
          </a:p>
          <a:p>
            <a:pPr>
              <a:spcAft>
                <a:spcPts val="1000"/>
              </a:spcAft>
              <a:defRPr sz="1500">
                <a:solidFill>
                  <a:srgbClr val="212529"/>
                </a:solidFill>
              </a:defRPr>
            </a:pPr>
            <a:r>
              <a:t>•  Strict input sanitization and schema validation via Pydantic.</a:t>
            </a:r>
          </a:p>
          <a:p>
            <a:pPr>
              <a:spcAft>
                <a:spcPts val="1000"/>
              </a:spcAft>
              <a:defRPr sz="1500">
                <a:solidFill>
                  <a:srgbClr val="212529"/>
                </a:solidFill>
              </a:defRPr>
            </a:pPr>
            <a:r>
              <a:t>•  4-Tier Role-Based Access Control (RBAC):</a:t>
            </a:r>
          </a:p>
          <a:p>
            <a:pPr>
              <a:spcAft>
                <a:spcPts val="1000"/>
              </a:spcAft>
              <a:defRPr sz="1500">
                <a:solidFill>
                  <a:srgbClr val="212529"/>
                </a:solidFill>
              </a:defRPr>
            </a:pPr>
            <a:r>
              <a:t>•  `ADMIN`: User provisioning, benchmark runs, database backup and restore drills.</a:t>
            </a:r>
          </a:p>
          <a:p>
            <a:pPr>
              <a:spcAft>
                <a:spcPts val="1000"/>
              </a:spcAft>
              <a:defRPr sz="1500">
                <a:solidFill>
                  <a:srgbClr val="212529"/>
                </a:solidFill>
              </a:defRPr>
            </a:pPr>
            <a:r>
              <a:t>•  `DOCTOR`: Patient diagnosis, telemetry inspection, alert triage, and discharge authorization.</a:t>
            </a:r>
          </a:p>
          <a:p>
            <a:pPr>
              <a:spcAft>
                <a:spcPts val="1000"/>
              </a:spcAft>
              <a:defRPr sz="1500">
                <a:solidFill>
                  <a:srgbClr val="212529"/>
                </a:solidFill>
              </a:defRPr>
            </a:pPr>
            <a:r>
              <a:t>•  `NURSE`: Telemetry recording, vital sign monitoring, alert acknowledgment.</a:t>
            </a:r>
          </a:p>
          <a:p>
            <a:pPr>
              <a:spcAft>
                <a:spcPts val="1000"/>
              </a:spcAft>
              <a:defRPr sz="1500">
                <a:solidFill>
                  <a:srgbClr val="212529"/>
                </a:solidFill>
              </a:defRPr>
            </a:pPr>
            <a:r>
              <a:t>•  `PATIENT`: Access strictly isolated to own personal telemetry and attending doctor chat.</a:t>
            </a:r>
          </a:p>
          <a:p>
            <a:pPr>
              <a:spcAft>
                <a:spcPts val="1000"/>
              </a:spcAft>
              <a:defRPr sz="1500">
                <a:solidFill>
                  <a:srgbClr val="212529"/>
                </a:solidFill>
              </a:defRPr>
            </a:pPr>
            <a:r>
              <a:t>•  Patient Isolation: Path-level ownership checks prevent IDOR (Insecure Direct Object Reference) vulnerabilities.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11</a:t>
            </a:r>
          </a:p>
          <a:p>
            <a:pPr>
              <a:spcAft>
                <a:spcPts val="400"/>
              </a:spcAft>
              <a:defRPr sz="2400" b="1">
                <a:solidFill>
                  <a:srgbClr val="0F4C81"/>
                </a:solidFill>
              </a:defRPr>
            </a:pPr>
            <a:r>
              <a:t>Real-Time Clinician Workstation &amp; Ticket Handshake</a:t>
            </a:r>
          </a:p>
          <a:p>
            <a:pPr>
              <a:defRPr sz="1300" i="1">
                <a:solidFill>
                  <a:srgbClr val="6C757D"/>
                </a:solidFill>
              </a:defRPr>
            </a:pPr>
            <a:r>
              <a:t>React 19 + TypeScript clinician dashboard connects to FastAPI via REST and ephemeral ticket-authenticated WebSockets for real-time alert triage.</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Frontend Architecture: React 19, TypeScript 6.0, Vite 8.3, TailwindCSS (`apps/doctor_web`).</a:t>
            </a:r>
          </a:p>
          <a:p>
            <a:pPr>
              <a:spcAft>
                <a:spcPts val="1000"/>
              </a:spcAft>
              <a:defRPr sz="1500">
                <a:solidFill>
                  <a:srgbClr val="212529"/>
                </a:solidFill>
              </a:defRPr>
            </a:pPr>
            <a:r>
              <a:t>•  Dual Operational Modes:</a:t>
            </a:r>
          </a:p>
          <a:p>
            <a:pPr>
              <a:spcAft>
                <a:spcPts val="1000"/>
              </a:spcAft>
              <a:defRPr sz="1500">
                <a:solidFill>
                  <a:srgbClr val="212529"/>
                </a:solidFill>
              </a:defRPr>
            </a:pPr>
            <a:r>
              <a:t>•  `Live Backend Mode` (`VITE_USE_MOCK_DATA=false`): Real HTTP Bearer requests to FastAPI and live WebSocket streams.</a:t>
            </a:r>
          </a:p>
          <a:p>
            <a:pPr>
              <a:spcAft>
                <a:spcPts val="1000"/>
              </a:spcAft>
              <a:defRPr sz="1500">
                <a:solidFill>
                  <a:srgbClr val="212529"/>
                </a:solidFill>
              </a:defRPr>
            </a:pPr>
            <a:r>
              <a:t>•  `Standalone Demo Mode` (`VITE_USE_MOCK_DATA=true`): In-memory mock fixtures for air-gapped evaluation.</a:t>
            </a:r>
          </a:p>
          <a:p>
            <a:pPr>
              <a:spcAft>
                <a:spcPts val="1000"/>
              </a:spcAft>
              <a:defRPr sz="1500">
                <a:solidFill>
                  <a:srgbClr val="212529"/>
                </a:solidFill>
              </a:defRPr>
            </a:pPr>
            <a:r>
              <a:t>•  Single-Use WebSocket Ticket Protocol:</a:t>
            </a:r>
          </a:p>
          <a:p>
            <a:pPr>
              <a:spcAft>
                <a:spcPts val="1000"/>
              </a:spcAft>
              <a:defRPr sz="1500">
                <a:solidFill>
                  <a:srgbClr val="212529"/>
                </a:solidFill>
              </a:defRPr>
            </a:pPr>
            <a:r>
              <a:t>•  Clinician Workstation Modules: Patients Directory, Vitals Time-Series Monitor, and Alert Triage Queue.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12</a:t>
            </a:r>
          </a:p>
          <a:p>
            <a:pPr>
              <a:spcAft>
                <a:spcPts val="400"/>
              </a:spcAft>
              <a:defRPr sz="2400" b="1">
                <a:solidFill>
                  <a:srgbClr val="0F4C81"/>
                </a:solidFill>
              </a:defRPr>
            </a:pPr>
            <a:r>
              <a:t>Interactive Population Health Dashboard (Streamlit)</a:t>
            </a:r>
          </a:p>
          <a:p>
            <a:pPr>
              <a:defRPr sz="1300" i="1">
                <a:solidFill>
                  <a:srgbClr val="6C757D"/>
                </a:solidFill>
              </a:defRPr>
            </a:pPr>
            <a:r>
              <a:t>A multi-page Streamlit analytics dashboard provides administrators and clinical researchers with cohort-wide telemetry rollups and benchmark visualization.</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Technology: Streamlit 1.40, Plotly Interactive Visualizations, Pandas (`dashboard/app.py`).</a:t>
            </a:r>
          </a:p>
          <a:p>
            <a:pPr>
              <a:spcAft>
                <a:spcPts val="1000"/>
              </a:spcAft>
              <a:defRPr sz="1500">
                <a:solidFill>
                  <a:srgbClr val="212529"/>
                </a:solidFill>
              </a:defRPr>
            </a:pPr>
            <a:r>
              <a:t>•  8 Dedicated Analytical Views:</a:t>
            </a:r>
          </a:p>
          <a:p>
            <a:pPr>
              <a:spcAft>
                <a:spcPts val="1000"/>
              </a:spcAft>
              <a:defRPr sz="1500">
                <a:solidFill>
                  <a:srgbClr val="212529"/>
                </a:solidFill>
              </a:defRPr>
            </a:pPr>
            <a:r>
              <a:t>•  Data Engine Toggles: Supports instant toggling between Live Database connection and Cached Benchmark Artifacts.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13</a:t>
            </a:r>
          </a:p>
          <a:p>
            <a:pPr>
              <a:spcAft>
                <a:spcPts val="400"/>
              </a:spcAft>
              <a:defRPr sz="2400" b="1">
                <a:solidFill>
                  <a:srgbClr val="0F4C81"/>
                </a:solidFill>
              </a:defRPr>
            </a:pPr>
            <a:r>
              <a:t>Statistically Rigorous Benchmarking: "Correctness Before Speed"</a:t>
            </a:r>
          </a:p>
          <a:p>
            <a:pPr>
              <a:defRPr sz="1300" i="1">
                <a:solidFill>
                  <a:srgbClr val="6C757D"/>
                </a:solidFill>
              </a:defRPr>
            </a:pPr>
            <a:r>
              <a:t>Before measuring query execution speed, our benchmarking harness proves mathematical and semantic equivalence ($\epsilon \le 0.05$) across both engines.</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The Core Flaw in Database Benchmarks: Most benchmarks compare mismatched queries that compute different results, rendering latency comparisons meaningless.</a:t>
            </a:r>
          </a:p>
          <a:p>
            <a:pPr>
              <a:spcAft>
                <a:spcPts val="1000"/>
              </a:spcAft>
              <a:defRPr sz="1500">
                <a:solidFill>
                  <a:srgbClr val="212529"/>
                </a:solidFill>
              </a:defRPr>
            </a:pPr>
            <a:r>
              <a:t>•  Two-Stage Benchmarking Protocol (`benchmarks/harness.py`):</a:t>
            </a:r>
          </a:p>
          <a:p>
            <a:pPr>
              <a:spcAft>
                <a:spcPts val="1000"/>
              </a:spcAft>
              <a:defRPr sz="1500">
                <a:solidFill>
                  <a:srgbClr val="212529"/>
                </a:solidFill>
              </a:defRPr>
            </a:pPr>
            <a:r>
              <a:t>•  Stage 1: Pre-Flight Semantic Equivalence: Executes identical clinical workloads in MySQL and MongoDB Atlas; asserts that row counts and numerical values match within $\epsilon = 0.05$. If equivalence fails, the benchmark immediately aborts.</a:t>
            </a:r>
          </a:p>
          <a:p>
            <a:pPr>
              <a:spcAft>
                <a:spcPts val="1000"/>
              </a:spcAft>
              <a:defRPr sz="1500">
                <a:solidFill>
                  <a:srgbClr val="212529"/>
                </a:solidFill>
              </a:defRPr>
            </a:pPr>
            <a:r>
              <a:t>•  Stage 2: Statistical Latency Measurement: 3 warm-up cycles (warming buffer pools and JIT caches) followed by 20 measured iterations per workload.</a:t>
            </a:r>
          </a:p>
          <a:p>
            <a:pPr>
              <a:spcAft>
                <a:spcPts val="1000"/>
              </a:spcAft>
              <a:defRPr sz="1500">
                <a:solidFill>
                  <a:srgbClr val="212529"/>
                </a:solidFill>
              </a:defRPr>
            </a:pPr>
            <a:r>
              <a:t>•  Standardized Clinical Workloads (Workloads A–G):</a:t>
            </a:r>
          </a:p>
          <a:p>
            <a:pPr>
              <a:spcAft>
                <a:spcPts val="1000"/>
              </a:spcAft>
              <a:defRPr sz="1500">
                <a:solidFill>
                  <a:srgbClr val="212529"/>
                </a:solidFill>
              </a:defRPr>
            </a:pPr>
            <a:r>
              <a:t>•  Workload A: Dataset Overview (Aggregates &amp; distinct patient counts)</a:t>
            </a:r>
          </a:p>
          <a:p>
            <a:pPr>
              <a:spcAft>
                <a:spcPts val="1000"/>
              </a:spcAft>
              <a:defRPr sz="1500">
                <a:solidFill>
                  <a:srgbClr val="212529"/>
                </a:solidFill>
              </a:defRPr>
            </a:pPr>
            <a:r>
              <a:t>•  Workload B: Patient Vitals Summary ($\mu, \sigma, \min, \max$)</a:t>
            </a:r>
          </a:p>
          <a:p>
            <a:pPr>
              <a:spcAft>
                <a:spcPts val="1000"/>
              </a:spcAft>
              <a:defRPr sz="1500">
                <a:solidFill>
                  <a:srgbClr val="212529"/>
                </a:solidFill>
              </a:defRPr>
            </a:pPr>
            <a:r>
              <a:t>•  Workload C: 24-Hour Population Time-Window Range Query</a:t>
            </a:r>
          </a:p>
          <a:p>
            <a:pPr>
              <a:spcAft>
                <a:spcPts val="1000"/>
              </a:spcAft>
              <a:defRPr sz="1500">
                <a:solidFill>
                  <a:srgbClr val="212529"/>
                </a:solidFill>
              </a:defRPr>
            </a:pPr>
            <a:r>
              <a:t>•  Workload D: Chronological Hourly Bucket Aggregations</a:t>
            </a:r>
          </a:p>
          <a:p>
            <a:pPr>
              <a:spcAft>
                <a:spcPts val="1000"/>
              </a:spcAft>
              <a:defRPr sz="1500">
                <a:solidFill>
                  <a:srgbClr val="212529"/>
                </a:solidFill>
              </a:defRPr>
            </a:pPr>
            <a:r>
              <a:t>•  Workload E: Filtered Patient History with Deterministic Pagination</a:t>
            </a:r>
          </a:p>
          <a:p>
            <a:pPr>
              <a:spcAft>
                <a:spcPts val="1000"/>
              </a:spcAft>
              <a:defRPr sz="1500">
                <a:solidFill>
                  <a:srgbClr val="212529"/>
                </a:solidFill>
              </a:defRPr>
            </a:pPr>
            <a:r>
              <a:t>•  Workload F: Ingestion Source Provenance Summary</a:t>
            </a:r>
          </a:p>
          <a:p>
            <a:pPr>
              <a:spcAft>
                <a:spcPts val="1000"/>
              </a:spcAft>
              <a:defRPr sz="1500">
                <a:solidFill>
                  <a:srgbClr val="212529"/>
                </a:solidFill>
              </a:defRPr>
            </a:pPr>
            <a:r>
              <a:t>•  Workload G: Clinical Alert Triage Queue Grouping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14</a:t>
            </a:r>
          </a:p>
          <a:p>
            <a:pPr>
              <a:spcAft>
                <a:spcPts val="400"/>
              </a:spcAft>
              <a:defRPr sz="2400" b="1">
                <a:solidFill>
                  <a:srgbClr val="0F4C81"/>
                </a:solidFill>
              </a:defRPr>
            </a:pPr>
            <a:r>
              <a:t>Empirical Benchmark Results &amp; Speedup Findings</a:t>
            </a:r>
          </a:p>
          <a:p>
            <a:pPr>
              <a:defRPr sz="1300" i="1">
                <a:solidFill>
                  <a:srgbClr val="6C757D"/>
                </a:solidFill>
              </a:defRPr>
            </a:pPr>
            <a:r>
              <a:t>Real disk artifacts (`bench_1791921481`) demonstrate that MySQL excels at indexed point/range queries, while MongoDB is 14.5x faster at denormalized alert triage.</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Artifact on Disk: Benchmark Run `bench_1791921481` (archived in `benchmarks/results/`).</a:t>
            </a:r>
          </a:p>
          <a:p>
            <a:pPr>
              <a:spcAft>
                <a:spcPts val="1000"/>
              </a:spcAft>
              <a:defRPr sz="1500">
                <a:solidFill>
                  <a:srgbClr val="212529"/>
                </a:solidFill>
              </a:defRPr>
            </a:pPr>
            <a:r>
              <a:t>•  Semantic Equivalence: 7 / 7 Workloads Verified Equivalent (100% Pass Rate).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15</a:t>
            </a:r>
          </a:p>
          <a:p>
            <a:pPr>
              <a:spcAft>
                <a:spcPts val="400"/>
              </a:spcAft>
              <a:defRPr sz="2400" b="1">
                <a:solidFill>
                  <a:srgbClr val="0F4C81"/>
                </a:solidFill>
              </a:defRPr>
            </a:pPr>
            <a:r>
              <a:t>Query Plan Optimization: MySQL vs. MongoDB</a:t>
            </a:r>
          </a:p>
          <a:p>
            <a:pPr>
              <a:defRPr sz="1300" i="1">
                <a:solidFill>
                  <a:srgbClr val="6C757D"/>
                </a:solidFill>
              </a:defRPr>
            </a:pPr>
            <a:r>
              <a:t>Execution plan inspection reveals how composite covering indexes eliminate `filesort` in MySQL, while compound index bounds drive efficient `IXSCAN` in MongoDB.</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MySQL 8 Query Execution Plan (Workload E: Patient History):</a:t>
            </a:r>
          </a:p>
          <a:p>
            <a:pPr>
              <a:spcAft>
                <a:spcPts val="1000"/>
              </a:spcAft>
              <a:defRPr sz="1500">
                <a:solidFill>
                  <a:srgbClr val="212529"/>
                </a:solidFill>
              </a:defRPr>
            </a:pPr>
            <a:r>
              <a:t>•  Tool: `EXPLAIN FORMAT=TREE`</a:t>
            </a:r>
          </a:p>
          <a:p>
            <a:pPr>
              <a:spcAft>
                <a:spcPts val="1000"/>
              </a:spcAft>
              <a:defRPr sz="1500">
                <a:solidFill>
                  <a:srgbClr val="212529"/>
                </a:solidFill>
              </a:defRPr>
            </a:pPr>
            <a:r>
              <a:t>•  Execution Path: `-&gt; Limit: 20 row(s) -&gt; Filter -&gt; Index scan on vitals_readings using idx_vitals_patient_recorded (reverse)`</a:t>
            </a:r>
          </a:p>
          <a:p>
            <a:pPr>
              <a:spcAft>
                <a:spcPts val="1000"/>
              </a:spcAft>
              <a:defRPr sz="1500">
                <a:solidFill>
                  <a:srgbClr val="212529"/>
                </a:solidFill>
              </a:defRPr>
            </a:pPr>
            <a:r>
              <a:t>•  Optimization Triumph: Using the composite index `(patient_id, recorded_at DESC)`, the optimizer scans the B-tree leaf nodes in reverse direction, completely eliminating the need for an in-memory or temporary disk `filesort` buffer.</a:t>
            </a:r>
          </a:p>
          <a:p>
            <a:pPr>
              <a:spcAft>
                <a:spcPts val="1000"/>
              </a:spcAft>
              <a:defRPr sz="1500">
                <a:solidFill>
                  <a:srgbClr val="212529"/>
                </a:solidFill>
              </a:defRPr>
            </a:pPr>
            <a:r>
              <a:t>•  MongoDB Atlas Query Execution Plan (Workload B: Vitals Summary):</a:t>
            </a:r>
          </a:p>
          <a:p>
            <a:pPr>
              <a:spcAft>
                <a:spcPts val="1000"/>
              </a:spcAft>
              <a:defRPr sz="1500">
                <a:solidFill>
                  <a:srgbClr val="212529"/>
                </a:solidFill>
              </a:defRPr>
            </a:pPr>
            <a:r>
              <a:t>•  Tool: `db.telemetry_readings.explain("executionStats").aggregate(...)`</a:t>
            </a:r>
          </a:p>
          <a:p>
            <a:pPr>
              <a:spcAft>
                <a:spcPts val="1000"/>
              </a:spcAft>
              <a:defRPr sz="1500">
                <a:solidFill>
                  <a:srgbClr val="212529"/>
                </a:solidFill>
              </a:defRPr>
            </a:pPr>
            <a:r>
              <a:t>•  Execution Stages: `IXSCAN` on `patient_id_1_recorded_at_-1` $\rightarrow$ `FETCH` $\rightarrow$ `GROUP`</a:t>
            </a:r>
          </a:p>
          <a:p>
            <a:pPr>
              <a:spcAft>
                <a:spcPts val="1000"/>
              </a:spcAft>
              <a:defRPr sz="1500">
                <a:solidFill>
                  <a:srgbClr val="212529"/>
                </a:solidFill>
              </a:defRPr>
            </a:pPr>
            <a:r>
              <a:t>•  Key Metric: `keysExamined: 300`, `docsExamined: 300`, `totalDocsExamined: 300`. Zero collection scan (`COLLSCAN`) stages across all indexed query filters.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16</a:t>
            </a:r>
          </a:p>
          <a:p>
            <a:pPr>
              <a:spcAft>
                <a:spcPts val="400"/>
              </a:spcAft>
              <a:defRPr sz="2400" b="1">
                <a:solidFill>
                  <a:srgbClr val="0F4C81"/>
                </a:solidFill>
              </a:defRPr>
            </a:pPr>
            <a:r>
              <a:t>Database Reliability &amp; Automated Disaster Recovery</a:t>
            </a:r>
          </a:p>
          <a:p>
            <a:pPr>
              <a:defRPr sz="1300" i="1">
                <a:solidFill>
                  <a:srgbClr val="6C757D"/>
                </a:solidFill>
              </a:defRPr>
            </a:pPr>
            <a:r>
              <a:t>Enterprise disaster recovery runbooks combine non-blocking MySQL snapshots, binary log point-in-time recovery, and automated non-destructive restore drills.</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Recovery Objectives: Recovery Point Objective (RPO) $&lt; 5$ minutes; Recovery Time Objective (RTO) $&lt; 30$ minutes.</a:t>
            </a:r>
          </a:p>
          <a:p>
            <a:pPr>
              <a:spcAft>
                <a:spcPts val="1000"/>
              </a:spcAft>
              <a:defRPr sz="1500">
                <a:solidFill>
                  <a:srgbClr val="212529"/>
                </a:solidFill>
              </a:defRPr>
            </a:pPr>
            <a:r>
              <a:t>•  Relational Backup (MySQL 8 InnoDB):</a:t>
            </a:r>
          </a:p>
          <a:p>
            <a:pPr>
              <a:spcAft>
                <a:spcPts val="1000"/>
              </a:spcAft>
              <a:defRPr sz="1500">
                <a:solidFill>
                  <a:srgbClr val="212529"/>
                </a:solidFill>
              </a:defRPr>
            </a:pPr>
            <a:r>
              <a:t>•  Logical snapshot via `mysqldump --single-transaction --routines --triggers`.</a:t>
            </a:r>
          </a:p>
          <a:p>
            <a:pPr>
              <a:spcAft>
                <a:spcPts val="1000"/>
              </a:spcAft>
              <a:defRPr sz="1500">
                <a:solidFill>
                  <a:srgbClr val="212529"/>
                </a:solidFill>
              </a:defRPr>
            </a:pPr>
            <a:r>
              <a:t>•  Non-blocking MVCC snapshot guarantees zero interruption to incoming telemetry writes.</a:t>
            </a:r>
          </a:p>
          <a:p>
            <a:pPr>
              <a:spcAft>
                <a:spcPts val="1000"/>
              </a:spcAft>
              <a:defRPr sz="1500">
                <a:solidFill>
                  <a:srgbClr val="212529"/>
                </a:solidFill>
              </a:defRPr>
            </a:pPr>
            <a:r>
              <a:t>•  Point-in-Time Recovery (PITR): Replaying MySQL Binary Logs (`mysqlbinlog`) enables recovery to the exact second prior to a data corruption incident.</a:t>
            </a:r>
          </a:p>
          <a:p>
            <a:pPr>
              <a:spcAft>
                <a:spcPts val="1000"/>
              </a:spcAft>
              <a:defRPr sz="1500">
                <a:solidFill>
                  <a:srgbClr val="212529"/>
                </a:solidFill>
              </a:defRPr>
            </a:pPr>
            <a:r>
              <a:t>•  Document Backup (MongoDB Atlas): Compressed logical archives via `mongodump --archive --gzip`.</a:t>
            </a:r>
          </a:p>
          <a:p>
            <a:pPr>
              <a:spcAft>
                <a:spcPts val="1000"/>
              </a:spcAft>
              <a:defRPr sz="1500">
                <a:solidFill>
                  <a:srgbClr val="212529"/>
                </a:solidFill>
              </a:defRPr>
            </a:pPr>
            <a:r>
              <a:t>•  Automated Verification Script (`scripts/backup_and_recovery.py`):</a:t>
            </a:r>
          </a:p>
          <a:p>
            <a:pPr>
              <a:spcAft>
                <a:spcPts val="1000"/>
              </a:spcAft>
              <a:defRPr sz="1500">
                <a:solidFill>
                  <a:srgbClr val="212529"/>
                </a:solidFill>
              </a:defRPr>
            </a:pPr>
            <a:r>
              <a:t>•  Generates SHA-256 checksums for backup verification.</a:t>
            </a:r>
          </a:p>
          <a:p>
            <a:pPr>
              <a:spcAft>
                <a:spcPts val="1000"/>
              </a:spcAft>
              <a:defRPr sz="1500">
                <a:solidFill>
                  <a:srgbClr val="212529"/>
                </a:solidFill>
              </a:defRPr>
            </a:pPr>
            <a:r>
              <a:t>•  Non-Destructive Restore Drill: Restores snapshot into an isolated temporary database (`smart_health_restore_test`), validates row counts across all 17 tables, verifies procedures, and cleanly tears down the test instance.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17</a:t>
            </a:r>
          </a:p>
          <a:p>
            <a:pPr>
              <a:spcAft>
                <a:spcPts val="400"/>
              </a:spcAft>
              <a:defRPr sz="2400" b="1">
                <a:solidFill>
                  <a:srgbClr val="0F4C81"/>
                </a:solidFill>
              </a:defRPr>
            </a:pPr>
            <a:r>
              <a:t>Multi-Layered Automated Testing: 338 Verification Points</a:t>
            </a:r>
          </a:p>
          <a:p>
            <a:pPr>
              <a:defRPr sz="1300" i="1">
                <a:solidFill>
                  <a:srgbClr val="6C757D"/>
                </a:solidFill>
              </a:defRPr>
            </a:pPr>
            <a:r>
              <a:t>Every architectural tier is verified by automated test suites achieving 100% pass rates across 338 total verification points.</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Backend Test Suite (Pytest): 280 / 280 Passed (100%) in 73.64 seconds.</a:t>
            </a:r>
          </a:p>
          <a:p>
            <a:pPr>
              <a:spcAft>
                <a:spcPts val="1000"/>
              </a:spcAft>
              <a:defRPr sz="1500">
                <a:solidFill>
                  <a:srgbClr val="212529"/>
                </a:solidFill>
              </a:defRPr>
            </a:pPr>
            <a:r>
              <a:t>•  Auth &amp; RBAC: 34 tests | Patients: 22 tests | Vitals: 28 tests | Alerts: 36 tests</a:t>
            </a:r>
          </a:p>
          <a:p>
            <a:pPr>
              <a:spcAft>
                <a:spcPts val="1000"/>
              </a:spcAft>
              <a:defRPr sz="1500">
                <a:solidFill>
                  <a:srgbClr val="212529"/>
                </a:solidFill>
              </a:defRPr>
            </a:pPr>
            <a:r>
              <a:t>•  MySQL Procedural &amp; Schema: 24 tests | MongoDB Mirror &amp; Aggregations: 32 tests</a:t>
            </a:r>
          </a:p>
          <a:p>
            <a:pPr>
              <a:spcAft>
                <a:spcPts val="1000"/>
              </a:spcAft>
              <a:defRPr sz="1500">
                <a:solidFill>
                  <a:srgbClr val="212529"/>
                </a:solidFill>
              </a:defRPr>
            </a:pPr>
            <a:r>
              <a:t>•  ML Anomaly Engine: 26 tests | WebSockets: 30 tests | Benchmarks &amp; Ops: 48 tests</a:t>
            </a:r>
          </a:p>
          <a:p>
            <a:pPr>
              <a:spcAft>
                <a:spcPts val="1000"/>
              </a:spcAft>
              <a:defRPr sz="1500">
                <a:solidFill>
                  <a:srgbClr val="212529"/>
                </a:solidFill>
              </a:defRPr>
            </a:pPr>
            <a:r>
              <a:t>•  Frontend Test Suite (Node.js Native): 20 / 20 Passed (100%) in 365 milliseconds.</a:t>
            </a:r>
          </a:p>
          <a:p>
            <a:pPr>
              <a:spcAft>
                <a:spcPts val="1000"/>
              </a:spcAft>
              <a:defRPr sz="1500">
                <a:solidFill>
                  <a:srgbClr val="212529"/>
                </a:solidFill>
              </a:defRPr>
            </a:pPr>
            <a:r>
              <a:t>•  Frontend Static Analysis: TypeScript `tsc -b` and Vite production build pass with 0 Errors.</a:t>
            </a:r>
          </a:p>
          <a:p>
            <a:pPr>
              <a:spcAft>
                <a:spcPts val="1000"/>
              </a:spcAft>
              <a:defRPr sz="1500">
                <a:solidFill>
                  <a:srgbClr val="212529"/>
                </a:solidFill>
              </a:defRPr>
            </a:pPr>
            <a:r>
              <a:t>•  Live System E2E Verification Harness: 31 / 31 Checks Passed (100%) against live running server.</a:t>
            </a:r>
          </a:p>
          <a:p>
            <a:pPr>
              <a:spcAft>
                <a:spcPts val="1000"/>
              </a:spcAft>
              <a:defRPr sz="1500">
                <a:solidFill>
                  <a:srgbClr val="212529"/>
                </a:solidFill>
              </a:defRPr>
            </a:pPr>
            <a:r>
              <a:t>•  Defects Discovered &amp; Resolved:</a:t>
            </a:r>
          </a:p>
          <a:p>
            <a:pPr>
              <a:spcAft>
                <a:spcPts val="1000"/>
              </a:spcAft>
              <a:defRPr sz="1500">
                <a:solidFill>
                  <a:srgbClr val="212529"/>
                </a:solidFill>
              </a:defRPr>
            </a:pPr>
            <a:r>
              <a:t>•  `DEF-001` (Fixed): WebSocket ticket timedelta integer bug in `create_access_token`.</a:t>
            </a:r>
          </a:p>
          <a:p>
            <a:pPr>
              <a:spcAft>
                <a:spcPts val="1000"/>
              </a:spcAft>
              <a:defRPr sz="1500">
                <a:solidFill>
                  <a:srgbClr val="212529"/>
                </a:solidFill>
              </a:defRPr>
            </a:pPr>
            <a:r>
              <a:t>•  `DEF-002` (Fixed): Frontend alert severity casing and array unwrap in `patientService.ts`.</a:t>
            </a:r>
          </a:p>
          <a:p>
            <a:pPr>
              <a:spcAft>
                <a:spcPts val="1000"/>
              </a:spcAft>
              <a:defRPr sz="1500">
                <a:solidFill>
                  <a:srgbClr val="212529"/>
                </a:solidFill>
              </a:defRPr>
            </a:pPr>
            <a:r>
              <a:t>•  `DEF-003` (Documented): Stateless JWT logout audit log; client token purge.</a:t>
            </a:r>
          </a:p>
          <a:p>
            <a:pPr>
              <a:spcAft>
                <a:spcPts val="1000"/>
              </a:spcAft>
              <a:defRPr sz="1500">
                <a:solidFill>
                  <a:srgbClr val="212529"/>
                </a:solidFill>
              </a:defRPr>
            </a:pPr>
            <a:r>
              <a:t>•  `DEF-004` (Documented): Standardized module path execution (`python -m scripts.*`).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18</a:t>
            </a:r>
          </a:p>
          <a:p>
            <a:pPr>
              <a:spcAft>
                <a:spcPts val="400"/>
              </a:spcAft>
              <a:defRPr sz="2400" b="1">
                <a:solidFill>
                  <a:srgbClr val="0F4C81"/>
                </a:solidFill>
              </a:defRPr>
            </a:pPr>
            <a:r>
              <a:t>Academic Integrity, Known Limitations &amp; Roadmap</a:t>
            </a:r>
          </a:p>
          <a:p>
            <a:pPr>
              <a:defRPr sz="1300" i="1">
                <a:solidFill>
                  <a:srgbClr val="6C757D"/>
                </a:solidFill>
              </a:defRPr>
            </a:pPr>
            <a:r>
              <a:t>We clearly distinguish completed, verified deliverables from planned external components and establish a clear future technical roadmap.</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Scope Boundary Transparency (Flutter Mobile App):</a:t>
            </a:r>
          </a:p>
          <a:p>
            <a:pPr>
              <a:spcAft>
                <a:spcPts val="1000"/>
              </a:spcAft>
              <a:defRPr sz="1500">
                <a:solidFill>
                  <a:srgbClr val="212529"/>
                </a:solidFill>
              </a:defRPr>
            </a:pPr>
            <a:r>
              <a:t>•  As verified during the system audit, the native Flutter mobile patient application is an external, planned integration component and is not packaged in the local workspace.</a:t>
            </a:r>
          </a:p>
          <a:p>
            <a:pPr>
              <a:spcAft>
                <a:spcPts val="1000"/>
              </a:spcAft>
              <a:defRPr sz="1500">
                <a:solidFill>
                  <a:srgbClr val="212529"/>
                </a:solidFill>
              </a:defRPr>
            </a:pPr>
            <a:r>
              <a:t>•  Patient telemetry ingestion is fully implemented, verified, and demonstrated via real Kaggle dataset replay scripts and authenticated RESTful endpoints (`POST /api/v1/vitals/`).</a:t>
            </a:r>
          </a:p>
          <a:p>
            <a:pPr>
              <a:spcAft>
                <a:spcPts val="1000"/>
              </a:spcAft>
              <a:defRPr sz="1500">
                <a:solidFill>
                  <a:srgbClr val="212529"/>
                </a:solidFill>
              </a:defRPr>
            </a:pPr>
            <a:r>
              <a:t>•  Identified System Limitations:</a:t>
            </a:r>
          </a:p>
          <a:p>
            <a:pPr>
              <a:spcAft>
                <a:spcPts val="1000"/>
              </a:spcAft>
              <a:defRPr sz="1500">
                <a:solidFill>
                  <a:srgbClr val="212529"/>
                </a:solidFill>
              </a:defRPr>
            </a:pPr>
            <a:r>
              <a:t>•  *Stateless JWT Revocation:* Tokens remain cryptographically valid until expiration; client purges tokens upon logout. (Production recommendation: Redis token blacklist).</a:t>
            </a:r>
          </a:p>
          <a:p>
            <a:pPr>
              <a:spcAft>
                <a:spcPts val="1000"/>
              </a:spcAft>
              <a:defRPr sz="1500">
                <a:solidFill>
                  <a:srgbClr val="212529"/>
                </a:solidFill>
              </a:defRPr>
            </a:pPr>
            <a:r>
              <a:t>•  *Single Outbox Poller:* The background sync worker operates as a single-instance polling loop. (Production recommendation: Distributed Kafka / RabbitMQ consumer group).</a:t>
            </a:r>
          </a:p>
          <a:p>
            <a:pPr>
              <a:spcAft>
                <a:spcPts val="1000"/>
              </a:spcAft>
              <a:defRPr sz="1500">
                <a:solidFill>
                  <a:srgbClr val="212529"/>
                </a:solidFill>
              </a:defRPr>
            </a:pPr>
            <a:r>
              <a:t>•  *Cold-Start ML Windowing:* Patients with $&lt; 10$ historical readings fall back to cohort averages rather than full rolling-window evaluation.</a:t>
            </a:r>
          </a:p>
          <a:p>
            <a:pPr>
              <a:spcAft>
                <a:spcPts val="1000"/>
              </a:spcAft>
              <a:defRPr sz="1500">
                <a:solidFill>
                  <a:srgbClr val="212529"/>
                </a:solidFill>
              </a:defRPr>
            </a:pPr>
            <a:r>
              <a:t>•  Future Technical Roadmap:</a:t>
            </a:r>
          </a:p>
          <a:p>
            <a:pPr>
              <a:spcAft>
                <a:spcPts val="1000"/>
              </a:spcAft>
              <a:defRPr sz="1500">
                <a:solidFill>
                  <a:srgbClr val="212529"/>
                </a:solidFill>
              </a:defRPr>
            </a:pPr>
            <a:r>
              <a:t>•  Kafka-based distributed event streaming for outbox event publishing.</a:t>
            </a:r>
          </a:p>
          <a:p>
            <a:pPr>
              <a:spcAft>
                <a:spcPts val="1000"/>
              </a:spcAft>
              <a:defRPr sz="1500">
                <a:solidFill>
                  <a:srgbClr val="212529"/>
                </a:solidFill>
              </a:defRPr>
            </a:pPr>
            <a:r>
              <a:t>•  FHIR / HL7 clinical interoperability interfaces for electronic health record (EHR) export.</a:t>
            </a:r>
          </a:p>
          <a:p>
            <a:pPr>
              <a:spcAft>
                <a:spcPts val="1000"/>
              </a:spcAft>
              <a:defRPr sz="1500">
                <a:solidFill>
                  <a:srgbClr val="212529"/>
                </a:solidFill>
              </a:defRPr>
            </a:pPr>
            <a:r>
              <a:t>•  Edge AI model quantization for local inference on wearable hardware.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19</a:t>
            </a:r>
          </a:p>
          <a:p>
            <a:pPr>
              <a:spcAft>
                <a:spcPts val="400"/>
              </a:spcAft>
              <a:defRPr sz="2400" b="1">
                <a:solidFill>
                  <a:srgbClr val="0F4C81"/>
                </a:solidFill>
              </a:defRPr>
            </a:pPr>
            <a:r>
              <a:t>Live Demonstration Sequence: 8-Step Verification Workflow</a:t>
            </a:r>
          </a:p>
          <a:p>
            <a:pPr>
              <a:defRPr sz="1300" i="1">
                <a:solidFill>
                  <a:srgbClr val="6C757D"/>
                </a:solidFill>
              </a:defRPr>
            </a:pPr>
            <a:r>
              <a:t>A robust, repeatable 8-step live demonstration script showcasing end-to-end functionality across all integrated components.</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Step 1: System Health Readiness: Query `GET /health/ready` $\rightarrow$ Confirm FastAPI and MySQL connectivity.</a:t>
            </a:r>
          </a:p>
          <a:p>
            <a:pPr>
              <a:spcAft>
                <a:spcPts val="1000"/>
              </a:spcAft>
              <a:defRPr sz="1500">
                <a:solidFill>
                  <a:srgbClr val="212529"/>
                </a:solidFill>
              </a:defRPr>
            </a:pPr>
            <a:r>
              <a:t>•  Step 2: Clinician Authentication: Log in as Dr. Sarah Chen (`POST /api/v1/auth/login`) $\rightarrow$ Receive JWT Bearer token.</a:t>
            </a:r>
          </a:p>
          <a:p>
            <a:pPr>
              <a:spcAft>
                <a:spcPts val="1000"/>
              </a:spcAft>
              <a:defRPr sz="1500">
                <a:solidFill>
                  <a:srgbClr val="212529"/>
                </a:solidFill>
              </a:defRPr>
            </a:pPr>
            <a:r>
              <a:t>•  Step 3: Patient Directory &amp; Demographics: Navigate to `/patients` $\rightarrow$ Display 5 Kaggle patient cohorts.</a:t>
            </a:r>
          </a:p>
          <a:p>
            <a:pPr>
              <a:spcAft>
                <a:spcPts val="1000"/>
              </a:spcAft>
              <a:defRPr sz="1500">
                <a:solidFill>
                  <a:srgbClr val="212529"/>
                </a:solidFill>
              </a:defRPr>
            </a:pPr>
            <a:r>
              <a:t>•  Step 4: Longitudinal Telemetry &amp; Views: Open Patient 1 $\rightarrow$ Query `v_latest_patient_vitals` $\rightarrow$ Render interactive Plotly charts.</a:t>
            </a:r>
          </a:p>
          <a:p>
            <a:pPr>
              <a:spcAft>
                <a:spcPts val="1000"/>
              </a:spcAft>
              <a:defRPr sz="1500">
                <a:solidFill>
                  <a:srgbClr val="212529"/>
                </a:solidFill>
              </a:defRPr>
            </a:pPr>
            <a:r>
              <a:t>•  Step 5: Alert Generation &amp; Procedural Acknowledgment: Ingest critical vitals (SpO2 88%) $\rightarrow$ Alert triggers $\rightarrow$ Acknowledge via `sp_acknowledge_alert` $\rightarrow$ Inspect `alert_status_history` audit trigger log.</a:t>
            </a:r>
          </a:p>
          <a:p>
            <a:pPr>
              <a:spcAft>
                <a:spcPts val="1000"/>
              </a:spcAft>
              <a:defRPr sz="1500">
                <a:solidFill>
                  <a:srgbClr val="212529"/>
                </a:solidFill>
              </a:defRPr>
            </a:pPr>
            <a:r>
              <a:t>•  Step 6: ML Anomaly Assessment: Execute `POST /predictions/patients/1/assess` $\rightarrow$ Display continuous anomaly score and top contributing features.</a:t>
            </a:r>
          </a:p>
          <a:p>
            <a:pPr>
              <a:spcAft>
                <a:spcPts val="1000"/>
              </a:spcAft>
              <a:defRPr sz="1500">
                <a:solidFill>
                  <a:srgbClr val="212529"/>
                </a:solidFill>
              </a:defRPr>
            </a:pPr>
            <a:r>
              <a:t>•  Step 7: Outbox Synchronization: Show `analytics_outbox` transition from `PENDING` to `PROCESSED` $\rightarrow$ Inspect mirrored document in MongoDB.</a:t>
            </a:r>
          </a:p>
          <a:p>
            <a:pPr>
              <a:spcAft>
                <a:spcPts val="1000"/>
              </a:spcAft>
              <a:defRPr sz="1500">
                <a:solidFill>
                  <a:srgbClr val="212529"/>
                </a:solidFill>
              </a:defRPr>
            </a:pPr>
            <a:r>
              <a:t>•  Step 8: Benchmark &amp; Equivalence: Open Streamlit Benchmark Explorer $\rightarrow$ Display verified $\epsilon \le 0.05$ equivalence and 14.5x MongoDB alert speedup.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97280"/>
          </a:xfrm>
          <a:prstGeom prst="rect">
            <a:avLst/>
          </a:prstGeom>
          <a:noFill/>
        </p:spPr>
        <p:txBody>
          <a:bodyPr wrap="square">
            <a:spAutoFit/>
          </a:bodyPr>
          <a:lstStyle/>
          <a:p>
            <a:pPr>
              <a:defRPr sz="1100" b="1">
                <a:solidFill>
                  <a:srgbClr val="009688"/>
                </a:solidFill>
              </a:defRPr>
            </a:pPr>
            <a:r>
              <a:t>SMART HEALTH MONITORING SYSTEM  |  SLIDE 20</a:t>
            </a:r>
          </a:p>
          <a:p>
            <a:pPr>
              <a:spcAft>
                <a:spcPts val="400"/>
              </a:spcAft>
              <a:defRPr sz="2400" b="1">
                <a:solidFill>
                  <a:srgbClr val="0F4C81"/>
                </a:solidFill>
              </a:defRPr>
            </a:pPr>
            <a:r>
              <a:t>Conclusion: A Robust, Academic-Grade Healthcare Platform</a:t>
            </a:r>
          </a:p>
          <a:p>
            <a:pPr>
              <a:defRPr sz="1300" i="1">
                <a:solidFill>
                  <a:srgbClr val="6C757D"/>
                </a:solidFill>
              </a:defRPr>
            </a:pPr>
            <a:r>
              <a:t>The Smart Health Monitoring System proves that modern polyglot architectures can deliver real-time analytical velocity without sacrificing transactional integrity.</a:t>
            </a:r>
          </a:p>
        </p:txBody>
      </p:sp>
      <p:sp>
        <p:nvSpPr>
          <p:cNvPr id="3" name="TextBox 2"/>
          <p:cNvSpPr txBox="1"/>
          <p:nvPr/>
        </p:nvSpPr>
        <p:spPr>
          <a:xfrm>
            <a:off x="731520" y="1828800"/>
            <a:ext cx="10728655" cy="4389120"/>
          </a:xfrm>
          <a:prstGeom prst="rect">
            <a:avLst/>
          </a:prstGeom>
          <a:noFill/>
        </p:spPr>
        <p:txBody>
          <a:bodyPr wrap="square">
            <a:spAutoFit/>
          </a:bodyPr>
          <a:lstStyle/>
          <a:p>
            <a:pPr>
              <a:spcAft>
                <a:spcPts val="1000"/>
              </a:spcAft>
              <a:defRPr sz="1500">
                <a:solidFill>
                  <a:srgbClr val="212529"/>
                </a:solidFill>
              </a:defRPr>
            </a:pPr>
            <a:r>
              <a:t>•  Polyglot Persistence Proven: The Transactional Outbox Pattern successfully decouples high-speed MongoDB analytics from ACID MySQL operational records.</a:t>
            </a:r>
          </a:p>
          <a:p>
            <a:pPr>
              <a:spcAft>
                <a:spcPts val="1000"/>
              </a:spcAft>
              <a:defRPr sz="1500">
                <a:solidFill>
                  <a:srgbClr val="212529"/>
                </a:solidFill>
              </a:defRPr>
            </a:pPr>
            <a:r>
              <a:t>•  Rigorous Relational Engineering: 17 tables in 3NF/BCNF, stored procedures with savepoints, audit triggers, and database-level domain constraints.</a:t>
            </a:r>
          </a:p>
          <a:p>
            <a:pPr>
              <a:spcAft>
                <a:spcPts val="1000"/>
              </a:spcAft>
              <a:defRPr sz="1500">
                <a:solidFill>
                  <a:srgbClr val="212529"/>
                </a:solidFill>
              </a:defRPr>
            </a:pPr>
            <a:r>
              <a:t>•  Applied Machine Learning: Personalized Isolation Forest with 38 engineered features, functioning in defense-in-depth tandem with clinical safety rules.</a:t>
            </a:r>
          </a:p>
          <a:p>
            <a:pPr>
              <a:spcAft>
                <a:spcPts val="1000"/>
              </a:spcAft>
              <a:defRPr sz="1500">
                <a:solidFill>
                  <a:srgbClr val="212529"/>
                </a:solidFill>
              </a:defRPr>
            </a:pPr>
            <a:r>
              <a:t>•  Empirically Validated: 338 total verification checkpoints, 100% test pass rate, and statistically rigorous SQL vs. NoSQL benchmark findings.</a:t>
            </a:r>
          </a:p>
          <a:p>
            <a:pPr>
              <a:spcAft>
                <a:spcPts val="1000"/>
              </a:spcAft>
              <a:defRPr sz="1500">
                <a:solidFill>
                  <a:srgbClr val="212529"/>
                </a:solidFill>
              </a:defRPr>
            </a:pPr>
            <a:r>
              <a:t>•  Ready for Defense: Complete academic documentation pack, reproducible setup guides, and comprehensive viva preparation materials.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